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FD4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/>
    <p:restoredTop sz="94655"/>
  </p:normalViewPr>
  <p:slideViewPr>
    <p:cSldViewPr snapToGrid="0" snapToObjects="1">
      <p:cViewPr varScale="1">
        <p:scale>
          <a:sx n="150" d="100"/>
          <a:sy n="150" d="100"/>
        </p:scale>
        <p:origin x="1344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hyperlink" Target="https://ru.wikipedia.org/wiki/%D0%91%D0%B5%D1%81%D0%BF%D1%80%D0%BE%D0%B2%D0%BE%D0%B4%D0%BD%D1%8B%D0%B5_%D1%82%D0%B5%D1%85%D0%BD%D0%BE%D0%BB%D0%BE%D0%B3%D0%B8%D0%B8" TargetMode="External"/><Relationship Id="rId7" Type="http://schemas.openxmlformats.org/officeDocument/2006/relationships/hyperlink" Target="https://ru.wikipedia.org/wiki/%D0%AD%D0%BD%D0%B5%D1%80%D0%B3%D0%BE%D0%BF%D0%BE%D1%82%D1%80%D0%B5%D0%B1%D0%BB%D0%B5%D0%BD%D0%B8%D0%B5" TargetMode="External"/><Relationship Id="rId2" Type="http://schemas.openxmlformats.org/officeDocument/2006/relationships/hyperlink" Target="https://ru.wikipedia.org/wiki/%D0%90%D0%BD%D0%B3%D0%BB%D0%B8%D0%B9%D1%81%D0%BA%D0%B8%D0%B9_%D1%8F%D0%B7%D1%8B%D0%BA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ru.wikipedia.org/wiki/Bluetooth_4.0" TargetMode="External"/><Relationship Id="rId5" Type="http://schemas.openxmlformats.org/officeDocument/2006/relationships/hyperlink" Target="https://ru.wikipedia.org/wiki/Bluetooth_%D1%81_%D0%BD%D0%B8%D0%B7%D0%BA%D0%B8%D0%BC_%D1%8D%D0%BD%D0%B5%D1%80%D0%B3%D0%BE%D0%BF%D0%BE%D1%82%D1%80%D0%B5%D0%B1%D0%BB%D0%B5%D0%BD%D0%B8%D0%B5%D0%BC#cite_note-ReleaseAnnouncement-1" TargetMode="External"/><Relationship Id="rId4" Type="http://schemas.openxmlformats.org/officeDocument/2006/relationships/hyperlink" Target="https://ru.wikipedia.org/wiki/Bluetooth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9144000" cy="31750"/>
          </a:xfrm>
          <a:prstGeom prst="rect">
            <a:avLst/>
          </a:prstGeom>
          <a:solidFill>
            <a:srgbClr val="1E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86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4800" b="1">
                <a:solidFill>
                  <a:srgbClr val="FFFFFF"/>
                </a:solidFill>
                <a:latin typeface="Menlo"/>
              </a:defRPr>
            </a:pPr>
            <a:r>
              <a:rPr sz="2400" dirty="0"/>
              <a:t>ATTENDPRO V4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80360"/>
            <a:ext cx="7863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2200" b="0">
                <a:solidFill>
                  <a:srgbClr val="9BE7FF"/>
                </a:solidFill>
                <a:latin typeface="Menlo"/>
              </a:defRPr>
            </a:pPr>
            <a:r>
              <a:rPr sz="1600" dirty="0"/>
              <a:t>BLE-first: </a:t>
            </a:r>
            <a:r>
              <a:rPr sz="1600" dirty="0" err="1"/>
              <a:t>отметка</a:t>
            </a:r>
            <a:r>
              <a:rPr sz="1600" dirty="0"/>
              <a:t> </a:t>
            </a:r>
            <a:r>
              <a:rPr sz="1600" dirty="0" err="1"/>
              <a:t>посещаемости</a:t>
            </a:r>
            <a:r>
              <a:rPr sz="1600" dirty="0"/>
              <a:t> </a:t>
            </a:r>
            <a:r>
              <a:rPr sz="1600" dirty="0" err="1"/>
              <a:t>без</a:t>
            </a:r>
            <a:r>
              <a:rPr sz="1600" dirty="0"/>
              <a:t> QR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611880"/>
            <a:ext cx="4572000" cy="25400"/>
          </a:xfrm>
          <a:prstGeom prst="rect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7863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300" b="0">
                <a:solidFill>
                  <a:srgbClr val="6FD3F5"/>
                </a:solidFill>
                <a:latin typeface="Menlo"/>
              </a:defRPr>
            </a:pPr>
            <a:r>
              <a:rPr sz="1200" dirty="0" err="1"/>
              <a:t>Офлайн-система</a:t>
            </a:r>
            <a:r>
              <a:rPr sz="1200" dirty="0"/>
              <a:t> </a:t>
            </a:r>
            <a:r>
              <a:rPr sz="1200" dirty="0" err="1"/>
              <a:t>отметок</a:t>
            </a:r>
            <a:r>
              <a:rPr sz="1200" dirty="0"/>
              <a:t>: BLE-witness · </a:t>
            </a:r>
            <a:r>
              <a:rPr sz="1200" dirty="0" err="1"/>
              <a:t>подписанные</a:t>
            </a:r>
            <a:r>
              <a:rPr sz="1200" dirty="0"/>
              <a:t> </a:t>
            </a:r>
            <a:r>
              <a:rPr sz="1200" dirty="0" err="1"/>
              <a:t>факты</a:t>
            </a:r>
            <a:r>
              <a:rPr sz="1200" dirty="0"/>
              <a:t> · </a:t>
            </a:r>
            <a:r>
              <a:rPr sz="1200" dirty="0" err="1"/>
              <a:t>Giper</a:t>
            </a:r>
            <a:r>
              <a:rPr sz="1200" dirty="0"/>
              <a:t> Baza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434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8FA3BF"/>
                </a:solidFill>
                <a:latin typeface="Menlo"/>
              </a:defRPr>
            </a:pPr>
            <a:r>
              <a:t>Архитектурный план v4.0  ·  2026-08-19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ED166C1-A56F-92EB-A9FD-CD7FB85899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29" t="6638" r="9308" b="6818"/>
          <a:stretch>
            <a:fillRect/>
          </a:stretch>
        </p:blipFill>
        <p:spPr>
          <a:xfrm>
            <a:off x="8356762" y="73296"/>
            <a:ext cx="729049" cy="8351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5A0D2-EA11-A715-52A9-76506C35A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9AF2D0-DD3C-C825-AB0F-41053005836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0994B8-D736-818D-281F-472834C1C931}"/>
              </a:ext>
            </a:extLst>
          </p:cNvPr>
          <p:cNvSpPr/>
          <p:nvPr/>
        </p:nvSpPr>
        <p:spPr>
          <a:xfrm>
            <a:off x="0" y="6819900"/>
            <a:ext cx="9144000" cy="38100"/>
          </a:xfrm>
          <a:prstGeom prst="rect">
            <a:avLst/>
          </a:prstGeom>
          <a:solidFill>
            <a:srgbClr val="1E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5334A0-BF9D-D8CC-5915-87156A63047E}"/>
              </a:ext>
            </a:extLst>
          </p:cNvPr>
          <p:cNvSpPr txBox="1"/>
          <p:nvPr/>
        </p:nvSpPr>
        <p:spPr>
          <a:xfrm>
            <a:off x="548640" y="256032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1">
                <a:solidFill>
                  <a:srgbClr val="4D9BFF"/>
                </a:solidFill>
                <a:latin typeface="Menlo"/>
              </a:defRPr>
            </a:pPr>
            <a:r>
              <a:rPr lang="ru-RU" dirty="0"/>
              <a:t>БТ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A5980B-CA53-B9AA-4A81-FAC12ACAC9E8}"/>
              </a:ext>
            </a:extLst>
          </p:cNvPr>
          <p:cNvSpPr txBox="1"/>
          <p:nvPr/>
        </p:nvSpPr>
        <p:spPr>
          <a:xfrm>
            <a:off x="548640" y="530352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600" b="1">
                <a:solidFill>
                  <a:srgbClr val="FFFFFF"/>
                </a:solidFill>
                <a:latin typeface="Menlo"/>
              </a:defRPr>
            </a:pPr>
            <a:r>
              <a:rPr lang="ru-RU" dirty="0"/>
              <a:t>ОБОСНОВАНИЕ БИЗНЕС-ТРЕБОВАНИЯ </a:t>
            </a:r>
            <a:r>
              <a:rPr lang="ru-RU" sz="1600" b="1" dirty="0">
                <a:solidFill>
                  <a:schemeClr val="bg1">
                    <a:lumMod val="9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«Офлайн»</a:t>
            </a:r>
            <a:r>
              <a:rPr lang="ru-RU" dirty="0"/>
              <a:t> 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E1FE35-DBBD-86C9-F436-22B83B684832}"/>
              </a:ext>
            </a:extLst>
          </p:cNvPr>
          <p:cNvSpPr txBox="1"/>
          <p:nvPr/>
        </p:nvSpPr>
        <p:spPr>
          <a:xfrm>
            <a:off x="548640" y="1024128"/>
            <a:ext cx="8229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 b="0">
                <a:solidFill>
                  <a:srgbClr val="9BE7FF"/>
                </a:solidFill>
                <a:latin typeface="Menlo"/>
              </a:defRPr>
            </a:pPr>
            <a:r>
              <a:rPr lang="ru-RU" sz="900" dirty="0">
                <a:solidFill>
                  <a:srgbClr val="6FD4F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Офлайн — не аварийный </a:t>
            </a:r>
            <a:r>
              <a:rPr lang="ru-RU" sz="900" dirty="0" err="1">
                <a:solidFill>
                  <a:srgbClr val="6FD4F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fallback</a:t>
            </a:r>
            <a:r>
              <a:rPr lang="ru-RU" sz="900" dirty="0">
                <a:solidFill>
                  <a:srgbClr val="6FD4F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а штатный режим работы системы.</a:t>
            </a:r>
            <a:endParaRPr dirty="0">
              <a:solidFill>
                <a:srgbClr val="6FD4F5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B886D1-8D1C-559C-FB9C-18CFDB8FC263}"/>
              </a:ext>
            </a:extLst>
          </p:cNvPr>
          <p:cNvSpPr/>
          <p:nvPr/>
        </p:nvSpPr>
        <p:spPr>
          <a:xfrm>
            <a:off x="548640" y="1371600"/>
            <a:ext cx="8046720" cy="19050"/>
          </a:xfrm>
          <a:prstGeom prst="rect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E34E89-C050-34A5-CFEB-AED56CC4D3D1}"/>
              </a:ext>
            </a:extLst>
          </p:cNvPr>
          <p:cNvSpPr txBox="1"/>
          <p:nvPr/>
        </p:nvSpPr>
        <p:spPr>
          <a:xfrm>
            <a:off x="548640" y="1674674"/>
            <a:ext cx="804671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b="1" dirty="0">
                <a:solidFill>
                  <a:srgbClr val="6FD4F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Обоснование бизнес-требования «Офлайн»</a:t>
            </a:r>
            <a:br>
              <a:rPr lang="ru-RU" sz="900" dirty="0">
                <a:solidFill>
                  <a:srgbClr val="6FD4F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endParaRPr lang="ru-RU" sz="900" dirty="0">
              <a:solidFill>
                <a:srgbClr val="6FD4F5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900" b="1" dirty="0">
                <a:solidFill>
                  <a:srgbClr val="6FD4F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Причина 1. </a:t>
            </a:r>
            <a:r>
              <a:rPr lang="ru-RU" sz="900" dirty="0">
                <a:solidFill>
                  <a:schemeClr val="bg1">
                    <a:lumMod val="9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Сеть в вузе нестабильна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900" b="1" dirty="0">
                <a:solidFill>
                  <a:srgbClr val="6FD4F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Причина 2. </a:t>
            </a:r>
            <a:r>
              <a:rPr lang="ru-RU" sz="900" dirty="0">
                <a:solidFill>
                  <a:schemeClr val="bg1">
                    <a:lumMod val="9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Сетевая политика вуза: авторизация через МАКС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900" b="1" dirty="0">
                <a:solidFill>
                  <a:srgbClr val="6FD4F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Причина 3. </a:t>
            </a:r>
            <a:r>
              <a:rPr lang="ru-RU" sz="900" dirty="0">
                <a:solidFill>
                  <a:schemeClr val="bg1">
                    <a:lumMod val="9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Чаще всего лежать будет не сеть — лежать будем МЫ.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900" dirty="0">
                <a:solidFill>
                  <a:schemeClr val="bg1">
                    <a:lumMod val="9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Мы не строим </a:t>
            </a:r>
            <a:r>
              <a:rPr lang="ru-RU" sz="900" dirty="0" err="1">
                <a:solidFill>
                  <a:schemeClr val="bg1">
                    <a:lumMod val="9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high-load</a:t>
            </a:r>
            <a:r>
              <a:rPr lang="ru-RU" sz="900" dirty="0">
                <a:solidFill>
                  <a:schemeClr val="bg1">
                    <a:lumMod val="9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систему уровня </a:t>
            </a:r>
            <a:r>
              <a:rPr lang="ru-RU" sz="900" dirty="0" err="1">
                <a:solidFill>
                  <a:schemeClr val="bg1">
                    <a:lumMod val="9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Cloudflare</a:t>
            </a:r>
            <a:r>
              <a:rPr lang="ru-RU" sz="900" dirty="0">
                <a:solidFill>
                  <a:schemeClr val="bg1">
                    <a:lumMod val="9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в </a:t>
            </a:r>
            <a:r>
              <a:rPr lang="ru-RU" sz="900" dirty="0" err="1">
                <a:solidFill>
                  <a:schemeClr val="bg1">
                    <a:lumMod val="9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датацентрах</a:t>
            </a:r>
            <a:r>
              <a:rPr lang="ru-RU" sz="900" dirty="0">
                <a:solidFill>
                  <a:schemeClr val="bg1">
                    <a:lumMod val="9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Amazon с отказоустойчивостью каждого компонента. У нас будет скромная инфраструктура — и это осознанный выбор для пилота и вуза;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900" dirty="0">
                <a:solidFill>
                  <a:schemeClr val="bg1">
                    <a:lumMod val="9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Любой инфраструктурный сбой — деплой, миграция, OOM, зависший процесс, протухший сертификат, DDOS, хостер перезагружает ноду — и наш портал недоступен;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900" dirty="0">
                <a:solidFill>
                  <a:schemeClr val="bg1">
                    <a:lumMod val="9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Если отметка требует живого портала — каждый наш сбой в учебный час = потерянные отметки целых потоков. Восстановление — ручное, через бумажный журнал, и это финальный удар по доверию к системе.</a:t>
            </a:r>
            <a:br>
              <a:rPr lang="ru-RU" sz="900" dirty="0">
                <a:solidFill>
                  <a:schemeClr val="bg1">
                    <a:lumMod val="9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endParaRPr lang="ru-RU" sz="900" dirty="0">
              <a:solidFill>
                <a:schemeClr val="bg1">
                  <a:lumMod val="9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2BB8BA4-BDAB-4B26-6E1E-9E3738BC37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29" t="6638" r="9308" b="6818"/>
          <a:stretch>
            <a:fillRect/>
          </a:stretch>
        </p:blipFill>
        <p:spPr>
          <a:xfrm>
            <a:off x="8356762" y="73296"/>
            <a:ext cx="729049" cy="835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185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9900"/>
            <a:ext cx="9144000" cy="38100"/>
          </a:xfrm>
          <a:prstGeom prst="rect">
            <a:avLst/>
          </a:prstGeom>
          <a:solidFill>
            <a:srgbClr val="1E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1">
                <a:solidFill>
                  <a:srgbClr val="4D9BFF"/>
                </a:solidFill>
                <a:latin typeface="Menlo"/>
              </a:defRPr>
            </a:pPr>
            <a:r>
              <a:t>ПРОБЛЕМА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600" b="1">
                <a:solidFill>
                  <a:srgbClr val="FFFFFF"/>
                </a:solidFill>
                <a:latin typeface="Menlo"/>
              </a:defRPr>
            </a:pPr>
            <a:r>
              <a:t>QR НЕ МОЖЕТ ДОКАЗАТЬ ВРЕМЯ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9BE7FF"/>
                </a:solidFill>
                <a:latin typeface="Menlo"/>
              </a:defRPr>
            </a:pPr>
            <a:r>
              <a:t>Почему убираем QR-коды из основного флоу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8046720" cy="19050"/>
          </a:xfrm>
          <a:prstGeom prst="rect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00199"/>
            <a:ext cx="3931920" cy="2461437"/>
          </a:xfrm>
          <a:prstGeom prst="rect">
            <a:avLst/>
          </a:prstGeom>
          <a:solidFill>
            <a:srgbClr val="071833"/>
          </a:solidFill>
          <a:ln w="9525">
            <a:solidFill>
              <a:srgbClr val="4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1">
                <a:solidFill>
                  <a:srgbClr val="FF6B81"/>
                </a:solidFill>
                <a:latin typeface="Menlo"/>
              </a:defRPr>
            </a:pPr>
            <a:r>
              <a:t>БЫЛО (QR):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48840"/>
            <a:ext cx="3474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900">
                <a:latin typeface="Menlo"/>
              </a:defRPr>
            </a:pPr>
            <a:r>
              <a:rPr sz="900" b="1">
                <a:solidFill>
                  <a:srgbClr val="6FD3F5"/>
                </a:solidFill>
                <a:latin typeface="Menlo"/>
              </a:rPr>
              <a:t>Перевод часов. </a:t>
            </a:r>
            <a:r>
              <a:rPr sz="900">
                <a:solidFill>
                  <a:srgbClr val="FFFFFF"/>
                </a:solidFill>
                <a:latin typeface="Menlo"/>
              </a:rPr>
              <a:t>Студент сканирует после пары с изменённым временем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900">
                <a:latin typeface="Menlo"/>
              </a:defRPr>
            </a:pPr>
            <a:r>
              <a:rPr sz="900" b="1">
                <a:solidFill>
                  <a:srgbClr val="6FD3F5"/>
                </a:solidFill>
                <a:latin typeface="Menlo"/>
              </a:rPr>
              <a:t>Скриншот кода. </a:t>
            </a:r>
            <a:r>
              <a:rPr sz="900">
                <a:solidFill>
                  <a:srgbClr val="FFFFFF"/>
                </a:solidFill>
                <a:latin typeface="Menlo"/>
              </a:rPr>
              <a:t>Challenge можно сохранить и использовать позже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900">
                <a:latin typeface="Menlo"/>
              </a:defRPr>
            </a:pPr>
            <a:r>
              <a:rPr sz="900" b="1">
                <a:solidFill>
                  <a:srgbClr val="6FD3F5"/>
                </a:solidFill>
                <a:latin typeface="Menlo"/>
              </a:rPr>
              <a:t>Нет свидетеля. </a:t>
            </a:r>
            <a:r>
              <a:rPr sz="900">
                <a:solidFill>
                  <a:srgbClr val="FFFFFF"/>
                </a:solidFill>
                <a:latin typeface="Menlo"/>
              </a:rPr>
              <a:t>Синхронизатор не отличает «создал в 10:05» от «создал в 12:00»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900">
                <a:latin typeface="Menlo"/>
              </a:defRPr>
            </a:pPr>
            <a:r>
              <a:rPr sz="900" b="1">
                <a:solidFill>
                  <a:srgbClr val="6FD3F5"/>
                </a:solidFill>
                <a:latin typeface="Menlo"/>
              </a:rPr>
              <a:t>Часы студента = </a:t>
            </a:r>
            <a:r>
              <a:rPr sz="900">
                <a:solidFill>
                  <a:srgbClr val="FFFFFF"/>
                </a:solidFill>
                <a:latin typeface="Menlo"/>
              </a:rPr>
              <a:t>источник истины. Это не лечится криптографией: подпись доказывает авторство, а не время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600200"/>
            <a:ext cx="3931920" cy="2461436"/>
          </a:xfrm>
          <a:prstGeom prst="rect">
            <a:avLst/>
          </a:prstGeom>
          <a:solidFill>
            <a:srgbClr val="071833"/>
          </a:solidFill>
          <a:ln w="9525">
            <a:solidFill>
              <a:srgbClr val="4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92040" y="17830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1">
                <a:solidFill>
                  <a:srgbClr val="53E0A0"/>
                </a:solidFill>
                <a:latin typeface="Menlo"/>
              </a:defRPr>
            </a:pPr>
            <a:r>
              <a:t>СТАЛО (BLE-witness):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148840"/>
            <a:ext cx="3474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900">
                <a:latin typeface="Menlo"/>
              </a:defRPr>
            </a:pPr>
            <a:r>
              <a:rPr sz="900" b="1">
                <a:solidFill>
                  <a:srgbClr val="6FD3F5"/>
                </a:solidFill>
                <a:latin typeface="Menlo"/>
              </a:rPr>
              <a:t>Физическое присутствие. </a:t>
            </a:r>
            <a:r>
              <a:rPr sz="900">
                <a:solidFill>
                  <a:srgbClr val="FFFFFF"/>
                </a:solidFill>
                <a:latin typeface="Menlo"/>
              </a:rPr>
              <a:t>Отметка требует радио-контакта с хабом преподавателя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900">
                <a:latin typeface="Menlo"/>
              </a:defRPr>
            </a:pPr>
            <a:r>
              <a:rPr sz="900" b="1">
                <a:solidFill>
                  <a:srgbClr val="6FD3F5"/>
                </a:solidFill>
                <a:latin typeface="Menlo"/>
              </a:rPr>
              <a:t>Окно подписывает хаб. </a:t>
            </a:r>
            <a:r>
              <a:rPr sz="900">
                <a:solidFill>
                  <a:srgbClr val="FFFFFF"/>
                </a:solidFill>
                <a:latin typeface="Menlo"/>
              </a:rPr>
              <a:t>Время определяет доверенное устройство, а не студент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900">
                <a:latin typeface="Menlo"/>
              </a:defRPr>
            </a:pPr>
            <a:r>
              <a:rPr sz="900" b="1">
                <a:solidFill>
                  <a:srgbClr val="6FD3F5"/>
                </a:solidFill>
                <a:latin typeface="Menlo"/>
              </a:rPr>
              <a:t>Часы студента </a:t>
            </a:r>
            <a:r>
              <a:rPr sz="900">
                <a:solidFill>
                  <a:srgbClr val="FFFFFF"/>
                </a:solidFill>
                <a:latin typeface="Menlo"/>
              </a:rPr>
              <a:t>не участвуют в решении вообще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900">
                <a:latin typeface="Menlo"/>
              </a:defRPr>
            </a:pPr>
            <a:r>
              <a:rPr sz="900" b="1">
                <a:solidFill>
                  <a:srgbClr val="6FD3F5"/>
                </a:solidFill>
                <a:latin typeface="Menlo"/>
              </a:rPr>
              <a:t>Zero-trust верификация </a:t>
            </a:r>
            <a:r>
              <a:rPr sz="900">
                <a:solidFill>
                  <a:srgbClr val="FFFFFF"/>
                </a:solidFill>
                <a:latin typeface="Menlo"/>
              </a:rPr>
              <a:t>— синхронизатор повторяет все проверки сам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2A91AD-CD8C-4730-A85A-EAF7EE05715E}"/>
              </a:ext>
            </a:extLst>
          </p:cNvPr>
          <p:cNvSpPr txBox="1"/>
          <p:nvPr/>
        </p:nvSpPr>
        <p:spPr>
          <a:xfrm>
            <a:off x="548640" y="4478804"/>
            <a:ext cx="80467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b="1" dirty="0">
                <a:solidFill>
                  <a:srgbClr val="6FD4F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Беспроводная технология Bluetooth с низким энергопотреблением</a:t>
            </a:r>
            <a:r>
              <a:rPr lang="ru-RU" sz="900" dirty="0">
                <a:solidFill>
                  <a:srgbClr val="6FD4F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(</a:t>
            </a:r>
            <a:r>
              <a:rPr lang="ru-RU" sz="900" dirty="0">
                <a:solidFill>
                  <a:srgbClr val="6FD4F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hlinkClick r:id="rId2" tooltip="Английский язык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англ.</a:t>
            </a:r>
            <a:r>
              <a:rPr lang="ru-RU" sz="900" dirty="0">
                <a:solidFill>
                  <a:srgbClr val="6FD4F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</a:t>
            </a:r>
            <a:r>
              <a:rPr lang="ru-RU" sz="900" i="1" dirty="0">
                <a:solidFill>
                  <a:srgbClr val="6FD4F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Bluetooth </a:t>
            </a:r>
            <a:r>
              <a:rPr lang="ru-RU" sz="900" i="1" dirty="0" err="1">
                <a:solidFill>
                  <a:srgbClr val="6FD4F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Low</a:t>
            </a:r>
            <a:r>
              <a:rPr lang="ru-RU" sz="900" i="1" dirty="0">
                <a:solidFill>
                  <a:srgbClr val="6FD4F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Energy, Bluetooth LE, BLE</a:t>
            </a:r>
            <a:r>
              <a:rPr lang="ru-RU" sz="900" dirty="0">
                <a:solidFill>
                  <a:srgbClr val="6FD4F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представленная также как Bluetooth Smart) </a:t>
            </a:r>
            <a:r>
              <a:rPr lang="ru-RU" sz="900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— выпущенная в декабре 2009 года версия спецификации ядра </a:t>
            </a:r>
            <a:r>
              <a:rPr lang="ru-RU" sz="900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hlinkClick r:id="rId3" tooltip="Беспроводные технологии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беспроводной технологии</a:t>
            </a:r>
            <a:r>
              <a:rPr lang="ru-RU" sz="900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</a:t>
            </a:r>
            <a:r>
              <a:rPr lang="ru-RU" sz="900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hlinkClick r:id="rId4" tooltip="Bluetooth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Bluetooth</a:t>
            </a:r>
            <a:r>
              <a:rPr lang="ru-RU" sz="900" baseline="30000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ru-RU" sz="900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</a:t>
            </a:r>
            <a:r>
              <a:rPr lang="ru-RU" sz="900" i="1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(включена в </a:t>
            </a:r>
            <a:r>
              <a:rPr lang="ru-RU" sz="900" i="1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hlinkClick r:id="rId6" tooltip="Bluetooth 4.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Bluetooth 4.0</a:t>
            </a:r>
            <a:r>
              <a:rPr lang="ru-RU" sz="900" i="1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r>
              <a:rPr lang="ru-RU" sz="900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наиболее существенным достоинством которой является сверхмалое пиковое </a:t>
            </a:r>
            <a:r>
              <a:rPr lang="ru-RU" sz="900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hlinkClick r:id="rId7" tooltip="Энергопотребление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энергопотребление</a:t>
            </a:r>
            <a:r>
              <a:rPr lang="ru-RU" sz="900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среднее энергопотребление и энергопотребление в режиме простоя.</a:t>
            </a:r>
          </a:p>
          <a:p>
            <a:br>
              <a:rPr lang="ru-RU" sz="900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endParaRPr sz="900" dirty="0">
              <a:solidFill>
                <a:schemeClr val="bg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4C09051-1B92-73ED-8CAE-024762A9A34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1329" t="6638" r="9308" b="6818"/>
          <a:stretch>
            <a:fillRect/>
          </a:stretch>
        </p:blipFill>
        <p:spPr>
          <a:xfrm>
            <a:off x="8356762" y="73296"/>
            <a:ext cx="729049" cy="8351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9900"/>
            <a:ext cx="9144000" cy="38100"/>
          </a:xfrm>
          <a:prstGeom prst="rect">
            <a:avLst/>
          </a:prstGeom>
          <a:solidFill>
            <a:srgbClr val="1E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1">
                <a:solidFill>
                  <a:srgbClr val="4D9BFF"/>
                </a:solidFill>
                <a:latin typeface="Menlo"/>
              </a:defRPr>
            </a:pPr>
            <a:r>
              <a:t>ОБЗОР ТЕХНОЛОГИЙ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600" b="1">
                <a:solidFill>
                  <a:srgbClr val="FFFFFF"/>
                </a:solidFill>
                <a:latin typeface="Menlo"/>
              </a:defRPr>
            </a:pPr>
            <a:r>
              <a:t>КАК ВООБЩЕ ПЕРЕДАТЬ «ВБЛИЗИ И БЕЗ QR»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9BE7FF"/>
                </a:solidFill>
                <a:latin typeface="Menlo"/>
              </a:defRPr>
            </a:pPr>
            <a:r>
              <a:t>Карта вариантов ближней связи — и наше место на ней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8046720" cy="19050"/>
          </a:xfrm>
          <a:prstGeom prst="rect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1874519" cy="1463040"/>
          </a:xfrm>
          <a:prstGeom prst="rect">
            <a:avLst/>
          </a:prstGeom>
          <a:solidFill>
            <a:srgbClr val="0A2244"/>
          </a:solidFill>
          <a:ln w="9525">
            <a:solidFill>
              <a:srgbClr val="53E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700784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1">
                <a:solidFill>
                  <a:srgbClr val="53E0A0"/>
                </a:solidFill>
                <a:latin typeface="Menlo"/>
              </a:defRPr>
            </a:pPr>
            <a:r>
              <a:t>✓ 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1691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FFFFFF"/>
                </a:solidFill>
                <a:latin typeface="Menlo"/>
              </a:defRPr>
            </a:pPr>
            <a:r>
              <a:t>Bluetooth Low Energy:</a:t>
            </a:r>
            <a:br/>
            <a:r>
              <a:t>короткий радиообмен,</a:t>
            </a:r>
            <a:br/>
            <a:r>
              <a:t>2.4 ГГц, батарейки хватает</a:t>
            </a:r>
            <a:br/>
            <a:r>
              <a:t>на месяцы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1645920"/>
            <a:ext cx="1874519" cy="1463040"/>
          </a:xfrm>
          <a:prstGeom prst="rect">
            <a:avLst/>
          </a:prstGeom>
          <a:solidFill>
            <a:srgbClr val="0A2244"/>
          </a:solidFill>
          <a:ln w="9525">
            <a:solidFill>
              <a:srgbClr val="4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51760" y="1700784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1">
                <a:solidFill>
                  <a:srgbClr val="4D9BFF"/>
                </a:solidFill>
                <a:latin typeface="Menlo"/>
              </a:defRPr>
            </a:pPr>
            <a:r>
              <a:t>✓ Wi-Fi 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103120"/>
            <a:ext cx="1691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FFFFFF"/>
                </a:solidFill>
                <a:latin typeface="Menlo"/>
              </a:defRPr>
            </a:pPr>
            <a:r>
              <a:t>та же железка хаба</a:t>
            </a:r>
            <a:br/>
            <a:r>
              <a:t>раздаёт сеть без Интернета:</a:t>
            </a:r>
            <a:br/>
            <a:r>
              <a:t>объёмный запасной канал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1874519" cy="1463040"/>
          </a:xfrm>
          <a:prstGeom prst="rect">
            <a:avLst/>
          </a:prstGeom>
          <a:solidFill>
            <a:srgbClr val="071833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63440" y="1700784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1">
                <a:solidFill>
                  <a:srgbClr val="8FA3BF"/>
                </a:solidFill>
                <a:latin typeface="Menlo"/>
              </a:defRPr>
            </a:pPr>
            <a:r>
              <a:t>NFC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103120"/>
            <a:ext cx="1691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FFFFFF"/>
                </a:solidFill>
                <a:latin typeface="Menlo"/>
              </a:defRPr>
            </a:pPr>
            <a:r>
              <a:t>касание 1–4 см:</a:t>
            </a:r>
            <a:br/>
            <a:r>
              <a:t>очередь из 200 человек —</a:t>
            </a:r>
            <a:br/>
            <a:r>
              <a:t>не основной канал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1645920"/>
            <a:ext cx="1874519" cy="1463040"/>
          </a:xfrm>
          <a:prstGeom prst="rect">
            <a:avLst/>
          </a:prstGeom>
          <a:solidFill>
            <a:srgbClr val="071833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1700784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1">
                <a:solidFill>
                  <a:srgbClr val="8FA3BF"/>
                </a:solidFill>
                <a:latin typeface="Menlo"/>
              </a:defRPr>
            </a:pPr>
            <a:r>
              <a:t>UWB / Channel</a:t>
            </a:r>
            <a:br/>
            <a:r>
              <a:t>Sounding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103120"/>
            <a:ext cx="1691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FFFFFF"/>
                </a:solidFill>
                <a:latin typeface="Menlo"/>
              </a:defRPr>
            </a:pPr>
            <a:r>
              <a:t>точное расстояние,</a:t>
            </a:r>
            <a:br/>
            <a:r>
              <a:t>анти-relay; мало устройств —</a:t>
            </a:r>
            <a:br/>
            <a:r>
              <a:t>фактор будущего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91840"/>
            <a:ext cx="1874519" cy="1463040"/>
          </a:xfrm>
          <a:prstGeom prst="rect">
            <a:avLst/>
          </a:prstGeom>
          <a:solidFill>
            <a:srgbClr val="071833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346704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1">
                <a:solidFill>
                  <a:srgbClr val="8FA3BF"/>
                </a:solidFill>
                <a:latin typeface="Menlo"/>
              </a:defRPr>
            </a:pPr>
            <a:r>
              <a:t>Wi-Fi Aware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749039"/>
            <a:ext cx="1691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FFFFFF"/>
                </a:solidFill>
                <a:latin typeface="Menlo"/>
              </a:defRPr>
            </a:pPr>
            <a:r>
              <a:t>поиск без роутера;</a:t>
            </a:r>
            <a:br/>
            <a:r>
              <a:t>только новые ОС и чипы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0" y="3291840"/>
            <a:ext cx="1874519" cy="1463040"/>
          </a:xfrm>
          <a:prstGeom prst="rect">
            <a:avLst/>
          </a:prstGeom>
          <a:solidFill>
            <a:srgbClr val="071833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51760" y="3346704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1">
                <a:solidFill>
                  <a:srgbClr val="8FA3BF"/>
                </a:solidFill>
                <a:latin typeface="Menlo"/>
              </a:defRPr>
            </a:pPr>
            <a:r>
              <a:t>BLE mesh</a:t>
            </a:r>
            <a:br/>
            <a:r>
              <a:t>(Bitchat и др.)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3749039"/>
            <a:ext cx="1691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FFFFFF"/>
                </a:solidFill>
                <a:latin typeface="Menlo"/>
              </a:defRPr>
            </a:pPr>
            <a:r>
              <a:t>ретрансляция чужими</a:t>
            </a:r>
            <a:br/>
            <a:r>
              <a:t>телефонами убивает</a:t>
            </a:r>
            <a:br/>
            <a:r>
              <a:t>доказательство близости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291840"/>
            <a:ext cx="1874519" cy="1463040"/>
          </a:xfrm>
          <a:prstGeom prst="rect">
            <a:avLst/>
          </a:prstGeom>
          <a:solidFill>
            <a:srgbClr val="071833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63440" y="3346704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1">
                <a:solidFill>
                  <a:srgbClr val="8FA3BF"/>
                </a:solidFill>
                <a:latin typeface="Menlo"/>
              </a:defRPr>
            </a:pPr>
            <a:r>
              <a:t>LoRa /</a:t>
            </a:r>
            <a:br/>
            <a:r>
              <a:t>Meshtastic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749039"/>
            <a:ext cx="1691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FFFFFF"/>
                </a:solidFill>
                <a:latin typeface="Menlo"/>
              </a:defRPr>
            </a:pPr>
            <a:r>
              <a:t>километры, но байты/сек</a:t>
            </a:r>
            <a:br/>
            <a:r>
              <a:t>и своё железо у всех —</a:t>
            </a:r>
            <a:br/>
            <a:r>
              <a:t>не для комнаты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3291840"/>
            <a:ext cx="1874519" cy="1463040"/>
          </a:xfrm>
          <a:prstGeom prst="rect">
            <a:avLst/>
          </a:prstGeom>
          <a:solidFill>
            <a:srgbClr val="071833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0" y="3346704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1">
                <a:solidFill>
                  <a:srgbClr val="8FA3BF"/>
                </a:solidFill>
                <a:latin typeface="Menlo"/>
              </a:defRPr>
            </a:pPr>
            <a:r>
              <a:t>Ультразвук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749039"/>
            <a:ext cx="1691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FFFFFF"/>
                </a:solidFill>
                <a:latin typeface="Menlo"/>
              </a:defRPr>
            </a:pPr>
            <a:r>
              <a:t>записывается</a:t>
            </a:r>
            <a:br/>
            <a:r>
              <a:t>и проигрывается;</a:t>
            </a:r>
            <a:br/>
            <a:r>
              <a:t>однонаправленно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98348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6FD3F5"/>
                </a:solidFill>
                <a:latin typeface="Menlo"/>
              </a:defRPr>
            </a:pPr>
            <a:r>
              <a:t>Выбираем BLE (обнаружение + отметка + доказательство близости) с Wi-Fi LAN как запасным каналом объёма. Почему — следующие три слайда: физика BLE, его режим GATT и упаковка приложения в Capacitor.</a:t>
            </a:r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93AF6F18-9035-1122-28A6-1A76C1D21E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29" t="6638" r="9308" b="6818"/>
          <a:stretch>
            <a:fillRect/>
          </a:stretch>
        </p:blipFill>
        <p:spPr>
          <a:xfrm>
            <a:off x="8356762" y="73296"/>
            <a:ext cx="729049" cy="8351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9900"/>
            <a:ext cx="9144000" cy="38100"/>
          </a:xfrm>
          <a:prstGeom prst="rect">
            <a:avLst/>
          </a:prstGeom>
          <a:solidFill>
            <a:srgbClr val="1E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1">
                <a:solidFill>
                  <a:srgbClr val="4D9BFF"/>
                </a:solidFill>
                <a:latin typeface="Menlo"/>
              </a:defRPr>
            </a:pPr>
            <a:r>
              <a:t>ТЕХНОЛОГИЯ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600" b="1">
                <a:solidFill>
                  <a:srgbClr val="FFFFFF"/>
                </a:solidFill>
                <a:latin typeface="Menlo"/>
              </a:defRPr>
            </a:pPr>
            <a:r>
              <a:t>BLE: ОДНА ОТМЕТКА — ДВЕ ФАЗЫ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9BE7FF"/>
                </a:solidFill>
                <a:latin typeface="Menlo"/>
              </a:defRPr>
            </a:pPr>
            <a:r>
              <a:t>Bluetooth Low Energy: сначала широковещательный маяк, потом разговор точка-точка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8046720" cy="19050"/>
          </a:xfrm>
          <a:prstGeom prst="rect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36192"/>
            <a:ext cx="8046720" cy="548640"/>
          </a:xfrm>
          <a:prstGeom prst="rect">
            <a:avLst/>
          </a:prstGeom>
          <a:solidFill>
            <a:srgbClr val="0A2244"/>
          </a:solidFill>
          <a:ln w="9525">
            <a:solidFill>
              <a:srgbClr val="4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618488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1">
                <a:solidFill>
                  <a:srgbClr val="9BE7FF"/>
                </a:solidFill>
                <a:latin typeface="Menlo"/>
              </a:defRPr>
            </a:pPr>
            <a:r>
              <a:t>Это не две сети, а два шага одной технологии:   ФАЗА 1 — маяк находит пару   →   ФАЗА 2 — соединение передаёт отметку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4023360" cy="155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900">
                <a:latin typeface="Menlo"/>
              </a:defRPr>
            </a:pPr>
            <a:r>
              <a:rPr sz="900" b="1" dirty="0" err="1">
                <a:solidFill>
                  <a:srgbClr val="6FD3F5"/>
                </a:solidFill>
                <a:latin typeface="Menlo"/>
              </a:rPr>
              <a:t>Волны</a:t>
            </a:r>
            <a:r>
              <a:rPr sz="900" b="1" dirty="0">
                <a:solidFill>
                  <a:srgbClr val="6FD3F5"/>
                </a:solidFill>
                <a:latin typeface="Menlo"/>
              </a:rPr>
              <a:t> 2,4 </a:t>
            </a:r>
            <a:r>
              <a:rPr sz="900" b="1" dirty="0" err="1">
                <a:solidFill>
                  <a:srgbClr val="6FD3F5"/>
                </a:solidFill>
                <a:latin typeface="Menlo"/>
              </a:rPr>
              <a:t>ГГц</a:t>
            </a:r>
            <a:r>
              <a:rPr sz="900" b="1" dirty="0">
                <a:solidFill>
                  <a:srgbClr val="6FD3F5"/>
                </a:solidFill>
                <a:latin typeface="Menlo"/>
              </a:rPr>
              <a:t>: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нелицензируемый</a:t>
            </a:r>
            <a:r>
              <a:rPr sz="900" dirty="0">
                <a:solidFill>
                  <a:srgbClr val="FFFFFF"/>
                </a:solidFill>
                <a:latin typeface="Menlo"/>
              </a:rPr>
              <a:t> «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общий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эфир</a:t>
            </a:r>
            <a:r>
              <a:rPr sz="900" dirty="0">
                <a:solidFill>
                  <a:srgbClr val="FFFFFF"/>
                </a:solidFill>
                <a:latin typeface="Menlo"/>
              </a:rPr>
              <a:t>»;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дальность</a:t>
            </a:r>
            <a:r>
              <a:rPr sz="900" dirty="0">
                <a:solidFill>
                  <a:srgbClr val="FFFFFF"/>
                </a:solidFill>
                <a:latin typeface="Menlo"/>
              </a:rPr>
              <a:t> —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единицы</a:t>
            </a:r>
            <a:r>
              <a:rPr sz="900" dirty="0">
                <a:solidFill>
                  <a:srgbClr val="FFFFFF"/>
                </a:solidFill>
                <a:latin typeface="Menlo"/>
              </a:rPr>
              <a:t>–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десятки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метров</a:t>
            </a:r>
            <a:r>
              <a:rPr sz="900" dirty="0">
                <a:solidFill>
                  <a:srgbClr val="FFFFFF"/>
                </a:solidFill>
                <a:latin typeface="Menlo"/>
              </a:rPr>
              <a:t>,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стены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и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тела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ослабляют</a:t>
            </a:r>
            <a:endParaRPr sz="900" dirty="0">
              <a:solidFill>
                <a:srgbClr val="FFFFFF"/>
              </a:solidFill>
              <a:latin typeface="Menlo"/>
            </a:endParaRPr>
          </a:p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900">
                <a:latin typeface="Menlo"/>
              </a:defRPr>
            </a:pPr>
            <a:r>
              <a:rPr sz="900" b="1" dirty="0">
                <a:solidFill>
                  <a:srgbClr val="6FD3F5"/>
                </a:solidFill>
                <a:latin typeface="Menlo"/>
              </a:rPr>
              <a:t>40 </a:t>
            </a:r>
            <a:r>
              <a:rPr sz="900" b="1" dirty="0" err="1">
                <a:solidFill>
                  <a:srgbClr val="6FD3F5"/>
                </a:solidFill>
                <a:latin typeface="Menlo"/>
              </a:rPr>
              <a:t>каналов</a:t>
            </a:r>
            <a:r>
              <a:rPr sz="900" b="1" dirty="0">
                <a:solidFill>
                  <a:srgbClr val="6FD3F5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по</a:t>
            </a:r>
            <a:r>
              <a:rPr sz="900" dirty="0">
                <a:solidFill>
                  <a:srgbClr val="FFFFFF"/>
                </a:solidFill>
                <a:latin typeface="Menlo"/>
              </a:rPr>
              <a:t> 2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МГц</a:t>
            </a:r>
            <a:r>
              <a:rPr sz="900" dirty="0">
                <a:solidFill>
                  <a:srgbClr val="FFFFFF"/>
                </a:solidFill>
                <a:latin typeface="Menlo"/>
              </a:rPr>
              <a:t>; 3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из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них</a:t>
            </a:r>
            <a:r>
              <a:rPr sz="900" dirty="0">
                <a:solidFill>
                  <a:srgbClr val="FFFFFF"/>
                </a:solidFill>
                <a:latin typeface="Menlo"/>
              </a:rPr>
              <a:t> —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рекламные</a:t>
            </a:r>
            <a:r>
              <a:rPr sz="900" dirty="0">
                <a:solidFill>
                  <a:srgbClr val="FFFFFF"/>
                </a:solidFill>
                <a:latin typeface="Menlo"/>
              </a:rPr>
              <a:t> (37–39),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выбраны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в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щелях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между</a:t>
            </a:r>
            <a:r>
              <a:rPr sz="900" dirty="0">
                <a:solidFill>
                  <a:srgbClr val="FFFFFF"/>
                </a:solidFill>
                <a:latin typeface="Menlo"/>
              </a:rPr>
              <a:t> Wi-Fi</a:t>
            </a:r>
          </a:p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900">
                <a:latin typeface="Menlo"/>
              </a:defRPr>
            </a:pPr>
            <a:r>
              <a:rPr sz="900" b="1" dirty="0" err="1">
                <a:solidFill>
                  <a:srgbClr val="6FD3F5"/>
                </a:solidFill>
                <a:latin typeface="Menlo"/>
              </a:rPr>
              <a:t>Маяк</a:t>
            </a:r>
            <a:r>
              <a:rPr sz="900" b="1" dirty="0">
                <a:solidFill>
                  <a:srgbClr val="6FD3F5"/>
                </a:solidFill>
                <a:latin typeface="Menlo"/>
              </a:rPr>
              <a:t> = 31 </a:t>
            </a:r>
            <a:r>
              <a:rPr sz="900" b="1" dirty="0" err="1">
                <a:solidFill>
                  <a:srgbClr val="6FD3F5"/>
                </a:solidFill>
                <a:latin typeface="Menlo"/>
              </a:rPr>
              <a:t>байт</a:t>
            </a:r>
            <a:r>
              <a:rPr sz="900" b="1" dirty="0">
                <a:solidFill>
                  <a:srgbClr val="6FD3F5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без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соединения</a:t>
            </a:r>
            <a:r>
              <a:rPr sz="900" dirty="0">
                <a:solidFill>
                  <a:srgbClr val="FFFFFF"/>
                </a:solidFill>
                <a:latin typeface="Menlo"/>
              </a:rPr>
              <a:t>,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раз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в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секунду</a:t>
            </a:r>
            <a:r>
              <a:rPr sz="900" dirty="0">
                <a:solidFill>
                  <a:srgbClr val="FFFFFF"/>
                </a:solidFill>
                <a:latin typeface="Menlo"/>
              </a:rPr>
              <a:t> —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копейки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энергии</a:t>
            </a:r>
            <a:r>
              <a:rPr sz="900" dirty="0">
                <a:solidFill>
                  <a:srgbClr val="FFFFFF"/>
                </a:solidFill>
                <a:latin typeface="Menlo"/>
              </a:rPr>
              <a:t>;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слушать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почти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бесплатно</a:t>
            </a:r>
            <a:endParaRPr sz="900" dirty="0">
              <a:solidFill>
                <a:srgbClr val="FFFFFF"/>
              </a:solidFill>
              <a:latin typeface="Menlo"/>
            </a:endParaRPr>
          </a:p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900">
                <a:latin typeface="Menlo"/>
              </a:defRPr>
            </a:pPr>
            <a:r>
              <a:rPr sz="900" b="1" dirty="0">
                <a:solidFill>
                  <a:srgbClr val="6FD3F5"/>
                </a:solidFill>
                <a:latin typeface="Menlo"/>
              </a:rPr>
              <a:t>Bluetooth «</a:t>
            </a:r>
            <a:r>
              <a:rPr sz="900" b="1" dirty="0" err="1">
                <a:solidFill>
                  <a:srgbClr val="6FD3F5"/>
                </a:solidFill>
                <a:latin typeface="Menlo"/>
              </a:rPr>
              <a:t>классический</a:t>
            </a:r>
            <a:r>
              <a:rPr sz="900" b="1" dirty="0">
                <a:solidFill>
                  <a:srgbClr val="6FD3F5"/>
                </a:solidFill>
                <a:latin typeface="Menlo"/>
              </a:rPr>
              <a:t>» </a:t>
            </a:r>
            <a:r>
              <a:rPr sz="900" dirty="0">
                <a:solidFill>
                  <a:srgbClr val="FFFFFF"/>
                </a:solidFill>
                <a:latin typeface="Menlo"/>
              </a:rPr>
              <a:t>(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наушники</a:t>
            </a:r>
            <a:r>
              <a:rPr sz="900" dirty="0">
                <a:solidFill>
                  <a:srgbClr val="FFFFFF"/>
                </a:solidFill>
                <a:latin typeface="Menlo"/>
              </a:rPr>
              <a:t>) —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тяжёлый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сосед</a:t>
            </a:r>
            <a:r>
              <a:rPr sz="900" dirty="0">
                <a:solidFill>
                  <a:srgbClr val="FFFFFF"/>
                </a:solidFill>
                <a:latin typeface="Menlo"/>
              </a:rPr>
              <a:t>; BLE —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отдельный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лёгкий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режим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с</a:t>
            </a:r>
            <a:r>
              <a:rPr sz="900" dirty="0">
                <a:solidFill>
                  <a:srgbClr val="FFFFFF"/>
                </a:solidFill>
                <a:latin typeface="Menlo"/>
              </a:rPr>
              <a:t> BT 4.0 (2010)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2286000"/>
            <a:ext cx="3840480" cy="2286000"/>
          </a:xfrm>
          <a:prstGeom prst="rect">
            <a:avLst/>
          </a:prstGeom>
          <a:solidFill>
            <a:srgbClr val="071833"/>
          </a:solidFill>
          <a:ln w="9525">
            <a:solidFill>
              <a:srgbClr val="4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0" y="2377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1">
                <a:solidFill>
                  <a:srgbClr val="6FD3F5"/>
                </a:solidFill>
                <a:latin typeface="Menlo"/>
              </a:defRPr>
            </a:pPr>
            <a:r>
              <a:t>ФАЗА 1 · ОБНАРУЖЕНИЕ (маяк):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83480" y="2697480"/>
            <a:ext cx="1051560" cy="457200"/>
          </a:xfrm>
          <a:prstGeom prst="rect">
            <a:avLst/>
          </a:prstGeom>
          <a:solidFill>
            <a:srgbClr val="0A2244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0056" y="2724912"/>
            <a:ext cx="97840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800" b="0">
                <a:solidFill>
                  <a:srgbClr val="9BE7FF"/>
                </a:solidFill>
                <a:latin typeface="Menlo"/>
              </a:defRPr>
            </a:pPr>
            <a:r>
              <a:t>телефон</a:t>
            </a:r>
            <a:br/>
            <a:r>
              <a:t>слушает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3246120"/>
            <a:ext cx="1051560" cy="457200"/>
          </a:xfrm>
          <a:prstGeom prst="rect">
            <a:avLst/>
          </a:prstGeom>
          <a:solidFill>
            <a:srgbClr val="0A2244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0056" y="3273551"/>
            <a:ext cx="97840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800" b="0">
                <a:solidFill>
                  <a:srgbClr val="9BE7FF"/>
                </a:solidFill>
                <a:latin typeface="Menlo"/>
              </a:defRPr>
            </a:pPr>
            <a:r>
              <a:t>телефон</a:t>
            </a:r>
            <a:br/>
            <a:r>
              <a:t>слушает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0840" y="2834640"/>
            <a:ext cx="1600200" cy="777240"/>
          </a:xfrm>
          <a:prstGeom prst="rect">
            <a:avLst/>
          </a:prstGeom>
          <a:solidFill>
            <a:srgbClr val="1E6FEB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57416" y="2862072"/>
            <a:ext cx="152704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850" b="1">
                <a:solidFill>
                  <a:srgbClr val="FFFFFF"/>
                </a:solidFill>
                <a:latin typeface="Menlo"/>
              </a:defRPr>
            </a:pPr>
            <a:r>
              <a:t>ХАБ</a:t>
            </a:r>
            <a:br/>
            <a:r>
              <a:t>кричит маяк</a:t>
            </a:r>
            <a:br/>
            <a:r>
              <a:t>(реклама)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80760" y="2926080"/>
            <a:ext cx="594360" cy="91440"/>
          </a:xfrm>
          <a:prstGeom prst="rightArrow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ight Arrow 19"/>
          <p:cNvSpPr/>
          <p:nvPr/>
        </p:nvSpPr>
        <p:spPr>
          <a:xfrm>
            <a:off x="6080760" y="3474720"/>
            <a:ext cx="594360" cy="91440"/>
          </a:xfrm>
          <a:prstGeom prst="rightArrow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60" y="39319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8FA3BF"/>
                </a:solidFill>
                <a:latin typeface="Menlo"/>
              </a:defRPr>
            </a:pPr>
            <a:r>
              <a:t>Так работали iBeacon и Exposure Notification (Apple+Google): один кричит — сотни слышат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70916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9BE7FF"/>
                </a:solidFill>
                <a:latin typeface="Menlo"/>
              </a:defRPr>
            </a:pPr>
            <a:r>
              <a:t>Услышать маяк может каждый — и это нужно: вся аудитория одновременно видит «пара идёт». Но услышать ≠ отметить: отметка рождается в фазе 2 — личном соединении.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C390C092-67AF-36CE-FB6E-A4A53449C5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29" t="6638" r="9308" b="6818"/>
          <a:stretch>
            <a:fillRect/>
          </a:stretch>
        </p:blipFill>
        <p:spPr>
          <a:xfrm>
            <a:off x="8356762" y="73296"/>
            <a:ext cx="729049" cy="8351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9900"/>
            <a:ext cx="9144000" cy="38100"/>
          </a:xfrm>
          <a:prstGeom prst="rect">
            <a:avLst/>
          </a:prstGeom>
          <a:solidFill>
            <a:srgbClr val="1E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1">
                <a:solidFill>
                  <a:srgbClr val="4D9BFF"/>
                </a:solidFill>
                <a:latin typeface="Menlo"/>
              </a:defRPr>
            </a:pPr>
            <a:r>
              <a:t>ТЕХНОЛОГИЯ · ФАЗА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600" b="1">
                <a:solidFill>
                  <a:srgbClr val="FFFFFF"/>
                </a:solidFill>
                <a:latin typeface="Menlo"/>
              </a:defRPr>
            </a:pPr>
            <a:r>
              <a:t>GATT: РАЗГОВОР ТОЧКА-ТОЧКА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9BE7FF"/>
                </a:solidFill>
                <a:latin typeface="Menlo"/>
              </a:defRPr>
            </a:pPr>
            <a:r>
              <a:t>Телефон услышал маяк (фаза 1) → подключается → здесь рождается отметка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8046720" cy="19050"/>
          </a:xfrm>
          <a:prstGeom prst="rect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4023360" cy="204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900">
                <a:latin typeface="Menlo"/>
              </a:defRPr>
            </a:pPr>
            <a:r>
              <a:rPr sz="900" b="1" dirty="0">
                <a:solidFill>
                  <a:srgbClr val="6FD3F5"/>
                </a:solidFill>
                <a:latin typeface="Menlo"/>
              </a:rPr>
              <a:t>Peripheral </a:t>
            </a:r>
            <a:r>
              <a:rPr sz="900" dirty="0">
                <a:solidFill>
                  <a:srgbClr val="FFFFFF"/>
                </a:solidFill>
                <a:latin typeface="Menlo"/>
              </a:rPr>
              <a:t>(«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периферия</a:t>
            </a:r>
            <a:r>
              <a:rPr sz="900" dirty="0">
                <a:solidFill>
                  <a:srgbClr val="FFFFFF"/>
                </a:solidFill>
                <a:latin typeface="Menlo"/>
              </a:rPr>
              <a:t>») —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маленький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сервер</a:t>
            </a:r>
            <a:r>
              <a:rPr sz="900" dirty="0">
                <a:solidFill>
                  <a:srgbClr val="FFFFFF"/>
                </a:solidFill>
                <a:latin typeface="Menlo"/>
              </a:rPr>
              <a:t>: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рекламирует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себя</a:t>
            </a:r>
            <a:r>
              <a:rPr sz="900" dirty="0">
                <a:solidFill>
                  <a:srgbClr val="FFFFFF"/>
                </a:solidFill>
                <a:latin typeface="Menlo"/>
              </a:rPr>
              <a:t>,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ждёт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подключения</a:t>
            </a:r>
            <a:r>
              <a:rPr sz="900" dirty="0">
                <a:solidFill>
                  <a:srgbClr val="FFFFFF"/>
                </a:solidFill>
                <a:latin typeface="Menlo"/>
              </a:rPr>
              <a:t>,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показывает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ячейки-характеристики</a:t>
            </a:r>
            <a:endParaRPr sz="900" dirty="0">
              <a:solidFill>
                <a:srgbClr val="FFFFFF"/>
              </a:solidFill>
              <a:latin typeface="Menlo"/>
            </a:endParaRPr>
          </a:p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900">
                <a:latin typeface="Menlo"/>
              </a:defRPr>
            </a:pPr>
            <a:r>
              <a:rPr sz="900" b="1" dirty="0">
                <a:solidFill>
                  <a:srgbClr val="6FD3F5"/>
                </a:solidFill>
                <a:latin typeface="Menlo"/>
              </a:rPr>
              <a:t>Central </a:t>
            </a:r>
            <a:r>
              <a:rPr sz="900" dirty="0">
                <a:solidFill>
                  <a:srgbClr val="FFFFFF"/>
                </a:solidFill>
                <a:latin typeface="Menlo"/>
              </a:rPr>
              <a:t>(«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центр</a:t>
            </a:r>
            <a:r>
              <a:rPr sz="900" dirty="0">
                <a:solidFill>
                  <a:srgbClr val="FFFFFF"/>
                </a:solidFill>
                <a:latin typeface="Menlo"/>
              </a:rPr>
              <a:t>») —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клиент</a:t>
            </a:r>
            <a:r>
              <a:rPr sz="900" dirty="0">
                <a:solidFill>
                  <a:srgbClr val="FFFFFF"/>
                </a:solidFill>
                <a:latin typeface="Menlo"/>
              </a:rPr>
              <a:t>: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услышал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маяк</a:t>
            </a:r>
            <a:r>
              <a:rPr sz="900" dirty="0">
                <a:solidFill>
                  <a:srgbClr val="FFFFFF"/>
                </a:solidFill>
                <a:latin typeface="Menlo"/>
              </a:rPr>
              <a:t>,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подключается</a:t>
            </a:r>
            <a:r>
              <a:rPr sz="900" dirty="0">
                <a:solidFill>
                  <a:srgbClr val="FFFFFF"/>
                </a:solidFill>
                <a:latin typeface="Menlo"/>
              </a:rPr>
              <a:t>,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читает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и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пишет</a:t>
            </a:r>
            <a:endParaRPr sz="900" dirty="0">
              <a:solidFill>
                <a:srgbClr val="FFFFFF"/>
              </a:solidFill>
              <a:latin typeface="Menlo"/>
            </a:endParaRPr>
          </a:p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900">
                <a:latin typeface="Menlo"/>
              </a:defRPr>
            </a:pPr>
            <a:r>
              <a:rPr sz="900" b="1" dirty="0" err="1">
                <a:solidFill>
                  <a:srgbClr val="6FD3F5"/>
                </a:solidFill>
                <a:latin typeface="Menlo"/>
              </a:rPr>
              <a:t>Характеристики</a:t>
            </a:r>
            <a:r>
              <a:rPr sz="900" b="1" dirty="0">
                <a:solidFill>
                  <a:srgbClr val="6FD3F5"/>
                </a:solidFill>
                <a:latin typeface="Menlo"/>
              </a:rPr>
              <a:t> </a:t>
            </a:r>
            <a:r>
              <a:rPr sz="900" dirty="0">
                <a:solidFill>
                  <a:srgbClr val="FFFFFF"/>
                </a:solidFill>
                <a:latin typeface="Menlo"/>
              </a:rPr>
              <a:t>—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ячейки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с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операциями</a:t>
            </a:r>
            <a:r>
              <a:rPr sz="900" dirty="0">
                <a:solidFill>
                  <a:srgbClr val="FFFFFF"/>
                </a:solidFill>
                <a:latin typeface="Menlo"/>
              </a:rPr>
              <a:t>: read (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прочитать</a:t>
            </a:r>
            <a:r>
              <a:rPr sz="900" dirty="0">
                <a:solidFill>
                  <a:srgbClr val="FFFFFF"/>
                </a:solidFill>
                <a:latin typeface="Menlo"/>
              </a:rPr>
              <a:t>), write (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записать</a:t>
            </a:r>
            <a:r>
              <a:rPr sz="900" dirty="0">
                <a:solidFill>
                  <a:srgbClr val="FFFFFF"/>
                </a:solidFill>
                <a:latin typeface="Menlo"/>
              </a:rPr>
              <a:t>), notify (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подписка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на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ответ</a:t>
            </a:r>
            <a:r>
              <a:rPr sz="900" dirty="0">
                <a:solidFill>
                  <a:srgbClr val="FFFFFF"/>
                </a:solidFill>
                <a:latin typeface="Menlo"/>
              </a:rPr>
              <a:t>)</a:t>
            </a:r>
          </a:p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900">
                <a:latin typeface="Menlo"/>
              </a:defRPr>
            </a:pPr>
            <a:r>
              <a:rPr sz="900" b="1" dirty="0" err="1">
                <a:solidFill>
                  <a:srgbClr val="6FD3F5"/>
                </a:solidFill>
                <a:latin typeface="Menlo"/>
              </a:rPr>
              <a:t>Сессия</a:t>
            </a:r>
            <a:r>
              <a:rPr sz="900" b="1" dirty="0">
                <a:solidFill>
                  <a:srgbClr val="6FD3F5"/>
                </a:solidFill>
                <a:latin typeface="Menlo"/>
              </a:rPr>
              <a:t> </a:t>
            </a:r>
            <a:r>
              <a:rPr sz="900" b="1" dirty="0" err="1">
                <a:solidFill>
                  <a:srgbClr val="6FD3F5"/>
                </a:solidFill>
                <a:latin typeface="Menlo"/>
              </a:rPr>
              <a:t>короткая</a:t>
            </a:r>
            <a:r>
              <a:rPr sz="900" b="1" dirty="0">
                <a:solidFill>
                  <a:srgbClr val="6FD3F5"/>
                </a:solidFill>
                <a:latin typeface="Menlo"/>
              </a:rPr>
              <a:t>: </a:t>
            </a:r>
            <a:r>
              <a:rPr sz="900" dirty="0">
                <a:solidFill>
                  <a:srgbClr val="FFFFFF"/>
                </a:solidFill>
                <a:latin typeface="Menlo"/>
              </a:rPr>
              <a:t>connect →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обмен</a:t>
            </a:r>
            <a:r>
              <a:rPr sz="900" dirty="0">
                <a:solidFill>
                  <a:srgbClr val="FFFFFF"/>
                </a:solidFill>
                <a:latin typeface="Menlo"/>
              </a:rPr>
              <a:t> → disconnect;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отметка</a:t>
            </a:r>
            <a:r>
              <a:rPr sz="900" dirty="0">
                <a:solidFill>
                  <a:srgbClr val="FFFFFF"/>
                </a:solidFill>
                <a:latin typeface="Menlo"/>
              </a:rPr>
              <a:t> ~200–400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байт</a:t>
            </a:r>
            <a:r>
              <a:rPr sz="900" dirty="0">
                <a:solidFill>
                  <a:srgbClr val="FFFFFF"/>
                </a:solidFill>
                <a:latin typeface="Menlo"/>
              </a:rPr>
              <a:t> —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доли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секунды</a:t>
            </a:r>
            <a:endParaRPr sz="900" dirty="0">
              <a:solidFill>
                <a:srgbClr val="FFFFFF"/>
              </a:solidFill>
              <a:latin typeface="Menlo"/>
            </a:endParaRPr>
          </a:p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900">
                <a:latin typeface="Menlo"/>
              </a:defRPr>
            </a:pPr>
            <a:r>
              <a:rPr sz="900" b="1" dirty="0" err="1">
                <a:solidFill>
                  <a:srgbClr val="6FD3F5"/>
                </a:solidFill>
                <a:latin typeface="Menlo"/>
              </a:rPr>
              <a:t>Наше</a:t>
            </a:r>
            <a:r>
              <a:rPr sz="900" b="1" dirty="0">
                <a:solidFill>
                  <a:srgbClr val="6FD3F5"/>
                </a:solidFill>
                <a:latin typeface="Menlo"/>
              </a:rPr>
              <a:t> </a:t>
            </a:r>
            <a:r>
              <a:rPr sz="900" b="1" dirty="0" err="1">
                <a:solidFill>
                  <a:srgbClr val="6FD3F5"/>
                </a:solidFill>
                <a:latin typeface="Menlo"/>
              </a:rPr>
              <a:t>распределение</a:t>
            </a:r>
            <a:r>
              <a:rPr sz="900" b="1" dirty="0">
                <a:solidFill>
                  <a:srgbClr val="6FD3F5"/>
                </a:solidFill>
                <a:latin typeface="Menlo"/>
              </a:rPr>
              <a:t> </a:t>
            </a:r>
            <a:r>
              <a:rPr sz="900" b="1" dirty="0" err="1">
                <a:solidFill>
                  <a:srgbClr val="6FD3F5"/>
                </a:solidFill>
                <a:latin typeface="Menlo"/>
              </a:rPr>
              <a:t>ролей</a:t>
            </a:r>
            <a:r>
              <a:rPr sz="900" b="1" dirty="0">
                <a:solidFill>
                  <a:srgbClr val="6FD3F5"/>
                </a:solidFill>
                <a:latin typeface="Menlo"/>
              </a:rPr>
              <a:t>: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хаб</a:t>
            </a:r>
            <a:r>
              <a:rPr sz="900" dirty="0">
                <a:solidFill>
                  <a:srgbClr val="FFFFFF"/>
                </a:solidFill>
                <a:latin typeface="Menlo"/>
              </a:rPr>
              <a:t> = peripheral,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студенты</a:t>
            </a:r>
            <a:r>
              <a:rPr sz="900" dirty="0">
                <a:solidFill>
                  <a:srgbClr val="FFFFFF"/>
                </a:solidFill>
                <a:latin typeface="Menlo"/>
              </a:rPr>
              <a:t> = central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600200"/>
            <a:ext cx="3840480" cy="4480560"/>
          </a:xfrm>
          <a:prstGeom prst="rect">
            <a:avLst/>
          </a:prstGeom>
          <a:solidFill>
            <a:srgbClr val="071833"/>
          </a:solidFill>
          <a:ln w="9525">
            <a:solidFill>
              <a:srgbClr val="4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1691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1">
                <a:solidFill>
                  <a:srgbClr val="6FD3F5"/>
                </a:solidFill>
                <a:latin typeface="Menlo"/>
              </a:defRPr>
            </a:pPr>
            <a:r>
              <a:t>НАШ GATT-ПРОФИЛЬ: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2057400"/>
            <a:ext cx="1463040" cy="1737360"/>
          </a:xfrm>
          <a:prstGeom prst="rect">
            <a:avLst/>
          </a:prstGeom>
          <a:solidFill>
            <a:srgbClr val="1E6FEB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74336" y="2084831"/>
            <a:ext cx="1389888" cy="168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850" b="1">
                <a:solidFill>
                  <a:srgbClr val="FFFFFF"/>
                </a:solidFill>
                <a:latin typeface="Menlo"/>
              </a:defRPr>
            </a:pPr>
            <a:r>
              <a:t>ХАБ</a:t>
            </a:r>
            <a:br/>
            <a:r>
              <a:t>peripheral</a:t>
            </a:r>
            <a:br/>
            <a:r>
              <a:t>(GATT-сервер)</a:t>
            </a:r>
            <a:br/>
            <a:br/>
            <a:r>
              <a:t>рекламирует</a:t>
            </a:r>
            <a:br/>
            <a:r>
              <a:t>сессию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446520" y="2331720"/>
            <a:ext cx="640080" cy="91440"/>
          </a:xfrm>
          <a:prstGeom prst="rightArrow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6446520" y="3337560"/>
            <a:ext cx="640080" cy="91440"/>
          </a:xfrm>
          <a:prstGeom prst="rightArrow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132320" y="2057400"/>
            <a:ext cx="1280160" cy="1737360"/>
          </a:xfrm>
          <a:prstGeom prst="rect">
            <a:avLst/>
          </a:prstGeom>
          <a:solidFill>
            <a:srgbClr val="0A2244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68896" y="2084831"/>
            <a:ext cx="1207007" cy="168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850" b="0">
                <a:solidFill>
                  <a:srgbClr val="9BE7FF"/>
                </a:solidFill>
                <a:latin typeface="Menlo"/>
              </a:defRPr>
            </a:pPr>
            <a:r>
              <a:t>СТУДЕНТ</a:t>
            </a:r>
            <a:br/>
            <a:r>
              <a:t>central</a:t>
            </a:r>
            <a:br/>
            <a:r>
              <a:t>(GATT-</a:t>
            </a:r>
            <a:br/>
            <a:r>
              <a:t>клиент)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3977639"/>
            <a:ext cx="1691640" cy="502920"/>
          </a:xfrm>
          <a:prstGeom prst="rect">
            <a:avLst/>
          </a:prstGeom>
          <a:solidFill>
            <a:srgbClr val="0A2244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74336" y="4005072"/>
            <a:ext cx="1618488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850" b="0">
                <a:solidFill>
                  <a:srgbClr val="FFFFFF"/>
                </a:solidFill>
                <a:latin typeface="Menlo"/>
              </a:defRPr>
            </a:pPr>
            <a:r>
              <a:t>challenge — read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4572000"/>
            <a:ext cx="1691640" cy="502920"/>
          </a:xfrm>
          <a:prstGeom prst="rect">
            <a:avLst/>
          </a:prstGeom>
          <a:solidFill>
            <a:srgbClr val="0A2244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74336" y="4599432"/>
            <a:ext cx="1618488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850" b="0">
                <a:solidFill>
                  <a:srgbClr val="FFFFFF"/>
                </a:solidFill>
                <a:latin typeface="Menlo"/>
              </a:defRPr>
            </a:pPr>
            <a:r>
              <a:t>mark — write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5166360"/>
            <a:ext cx="1691640" cy="502920"/>
          </a:xfrm>
          <a:prstGeom prst="rect">
            <a:avLst/>
          </a:prstGeom>
          <a:solidFill>
            <a:srgbClr val="0A2244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74336" y="5193792"/>
            <a:ext cx="1618488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850" b="0">
                <a:solidFill>
                  <a:srgbClr val="FFFFFF"/>
                </a:solidFill>
                <a:latin typeface="Menlo"/>
              </a:defRPr>
            </a:pPr>
            <a:r>
              <a:t>receipt — notify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977639"/>
            <a:ext cx="1737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50" b="0">
                <a:solidFill>
                  <a:srgbClr val="9BE7FF"/>
                </a:solidFill>
                <a:latin typeface="Menlo"/>
              </a:defRPr>
            </a:pPr>
            <a:r>
              <a:t>якорь →</a:t>
            </a:r>
            <a:br/>
            <a:r>
              <a:t>отметка →</a:t>
            </a:r>
            <a:br/>
            <a:r>
              <a:t>квитанция</a:t>
            </a:r>
            <a:br/>
            <a:br/>
            <a:r>
              <a:t>≈ 10–30 секунд</a:t>
            </a:r>
            <a:br/>
            <a:r>
              <a:t>одного обмена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1264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1">
                <a:solidFill>
                  <a:srgbClr val="6FD3F5"/>
                </a:solidFill>
                <a:latin typeface="Menlo"/>
              </a:defRPr>
            </a:pPr>
            <a:r>
              <a:t>Фазы идут подряд: маяк (фаза 1) → GATT (фаза 2) → disconnect. Вся отметка студента — 10–30 секунд радио.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85645BB9-433C-21F3-0742-16E8A08746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29" t="6638" r="9308" b="6818"/>
          <a:stretch>
            <a:fillRect/>
          </a:stretch>
        </p:blipFill>
        <p:spPr>
          <a:xfrm>
            <a:off x="8356762" y="73296"/>
            <a:ext cx="729049" cy="8351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9900"/>
            <a:ext cx="9144000" cy="38100"/>
          </a:xfrm>
          <a:prstGeom prst="rect">
            <a:avLst/>
          </a:prstGeom>
          <a:solidFill>
            <a:srgbClr val="1E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1">
                <a:solidFill>
                  <a:srgbClr val="4D9BFF"/>
                </a:solidFill>
                <a:latin typeface="Menlo"/>
              </a:defRPr>
            </a:pPr>
            <a:r>
              <a:t>УПАКОВКА ПРИЛОЖЕНИЯ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600" b="1">
                <a:solidFill>
                  <a:srgbClr val="FFFFFF"/>
                </a:solidFill>
                <a:latin typeface="Menlo"/>
              </a:defRPr>
            </a:pPr>
            <a:r>
              <a:t>CAPACITOR: НАШ ВЕБ-КОД ПОЛУЧАЕТ 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9BE7FF"/>
                </a:solidFill>
                <a:latin typeface="Menlo"/>
              </a:defRPr>
            </a:pPr>
            <a:r>
              <a:t>Чистая PWA не умеет BLE на iPhone — решается нативной оболочкой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8046720" cy="19050"/>
          </a:xfrm>
          <a:prstGeom prst="rect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4023360" cy="253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900">
                <a:latin typeface="Menlo"/>
              </a:defRPr>
            </a:pPr>
            <a:r>
              <a:rPr sz="900" b="1" dirty="0" err="1">
                <a:solidFill>
                  <a:srgbClr val="6FD3F5"/>
                </a:solidFill>
                <a:latin typeface="Menlo"/>
              </a:rPr>
              <a:t>Проблема</a:t>
            </a:r>
            <a:r>
              <a:rPr sz="900" b="1" dirty="0">
                <a:solidFill>
                  <a:srgbClr val="6FD3F5"/>
                </a:solidFill>
                <a:latin typeface="Menlo"/>
              </a:rPr>
              <a:t>: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браузерный</a:t>
            </a:r>
            <a:r>
              <a:rPr sz="900" dirty="0">
                <a:solidFill>
                  <a:srgbClr val="FFFFFF"/>
                </a:solidFill>
                <a:latin typeface="Menlo"/>
              </a:rPr>
              <a:t> Web Bluetooth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отсутствует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в</a:t>
            </a:r>
            <a:r>
              <a:rPr sz="900" dirty="0">
                <a:solidFill>
                  <a:srgbClr val="FFFFFF"/>
                </a:solidFill>
                <a:latin typeface="Menlo"/>
              </a:rPr>
              <a:t> Safari (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все</a:t>
            </a:r>
            <a:r>
              <a:rPr sz="900" dirty="0">
                <a:solidFill>
                  <a:srgbClr val="FFFFFF"/>
                </a:solidFill>
                <a:latin typeface="Menlo"/>
              </a:rPr>
              <a:t> iPhone);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поддерживают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только</a:t>
            </a:r>
            <a:r>
              <a:rPr sz="900" dirty="0">
                <a:solidFill>
                  <a:srgbClr val="FFFFFF"/>
                </a:solidFill>
                <a:latin typeface="Menlo"/>
              </a:rPr>
              <a:t> Chromium-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браузеры</a:t>
            </a:r>
            <a:r>
              <a:rPr sz="900" dirty="0">
                <a:solidFill>
                  <a:srgbClr val="FFFFFF"/>
                </a:solidFill>
                <a:latin typeface="Menlo"/>
              </a:rPr>
              <a:t> (~76%)</a:t>
            </a:r>
          </a:p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900">
                <a:latin typeface="Menlo"/>
              </a:defRPr>
            </a:pPr>
            <a:r>
              <a:rPr sz="900" b="1" dirty="0">
                <a:solidFill>
                  <a:srgbClr val="6FD3F5"/>
                </a:solidFill>
                <a:latin typeface="Menlo"/>
              </a:rPr>
              <a:t>Capacitor </a:t>
            </a:r>
            <a:r>
              <a:rPr sz="900" dirty="0">
                <a:solidFill>
                  <a:srgbClr val="FFFFFF"/>
                </a:solidFill>
                <a:latin typeface="Menlo"/>
              </a:rPr>
              <a:t>—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упаковщик</a:t>
            </a:r>
            <a:r>
              <a:rPr sz="900" dirty="0">
                <a:solidFill>
                  <a:srgbClr val="FFFFFF"/>
                </a:solidFill>
                <a:latin typeface="Menlo"/>
              </a:rPr>
              <a:t>: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берёт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наш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веб-код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и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заворачивает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в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нативное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приложение</a:t>
            </a:r>
            <a:r>
              <a:rPr sz="900" dirty="0">
                <a:solidFill>
                  <a:srgbClr val="FFFFFF"/>
                </a:solidFill>
                <a:latin typeface="Menlo"/>
              </a:rPr>
              <a:t> iOS/Android</a:t>
            </a:r>
          </a:p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900">
                <a:latin typeface="Menlo"/>
              </a:defRPr>
            </a:pPr>
            <a:r>
              <a:rPr sz="900" b="1" dirty="0" err="1">
                <a:solidFill>
                  <a:srgbClr val="6FD3F5"/>
                </a:solidFill>
                <a:latin typeface="Menlo"/>
              </a:rPr>
              <a:t>Внутри</a:t>
            </a:r>
            <a:r>
              <a:rPr sz="900" b="1" dirty="0">
                <a:solidFill>
                  <a:srgbClr val="6FD3F5"/>
                </a:solidFill>
                <a:latin typeface="Menlo"/>
              </a:rPr>
              <a:t>: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нативная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оболочка</a:t>
            </a:r>
            <a:r>
              <a:rPr sz="900" dirty="0">
                <a:solidFill>
                  <a:srgbClr val="FFFFFF"/>
                </a:solidFill>
                <a:latin typeface="Menlo"/>
              </a:rPr>
              <a:t> + WebView (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движок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браузера</a:t>
            </a:r>
            <a:r>
              <a:rPr sz="900" dirty="0">
                <a:solidFill>
                  <a:srgbClr val="FFFFFF"/>
                </a:solidFill>
                <a:latin typeface="Menlo"/>
              </a:rPr>
              <a:t>),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где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крутится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тот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же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код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и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Giper</a:t>
            </a:r>
            <a:r>
              <a:rPr sz="900" dirty="0">
                <a:solidFill>
                  <a:srgbClr val="FFFFFF"/>
                </a:solidFill>
                <a:latin typeface="Menlo"/>
              </a:rPr>
              <a:t> Baza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в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IndexedDB</a:t>
            </a:r>
            <a:endParaRPr sz="900" dirty="0">
              <a:solidFill>
                <a:srgbClr val="FFFFFF"/>
              </a:solidFill>
              <a:latin typeface="Menlo"/>
            </a:endParaRPr>
          </a:p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900">
                <a:latin typeface="Menlo"/>
              </a:defRPr>
            </a:pPr>
            <a:r>
              <a:rPr sz="900" b="1" dirty="0" err="1">
                <a:solidFill>
                  <a:srgbClr val="6FD3F5"/>
                </a:solidFill>
                <a:latin typeface="Menlo"/>
              </a:rPr>
              <a:t>Плагин</a:t>
            </a:r>
            <a:r>
              <a:rPr sz="900" b="1" dirty="0">
                <a:solidFill>
                  <a:srgbClr val="6FD3F5"/>
                </a:solidFill>
                <a:latin typeface="Menlo"/>
              </a:rPr>
              <a:t> — </a:t>
            </a:r>
            <a:r>
              <a:rPr sz="900" b="1" dirty="0" err="1">
                <a:solidFill>
                  <a:srgbClr val="6FD3F5"/>
                </a:solidFill>
                <a:latin typeface="Menlo"/>
              </a:rPr>
              <a:t>мост</a:t>
            </a:r>
            <a:r>
              <a:rPr sz="900" b="1" dirty="0">
                <a:solidFill>
                  <a:srgbClr val="6FD3F5"/>
                </a:solidFill>
                <a:latin typeface="Menlo"/>
              </a:rPr>
              <a:t>: </a:t>
            </a:r>
            <a:r>
              <a:rPr sz="900" dirty="0">
                <a:solidFill>
                  <a:srgbClr val="FFFFFF"/>
                </a:solidFill>
                <a:latin typeface="Menlo"/>
              </a:rPr>
              <a:t>JS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вызывает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нативное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радио</a:t>
            </a:r>
            <a:r>
              <a:rPr sz="900" dirty="0">
                <a:solidFill>
                  <a:srgbClr val="FFFFFF"/>
                </a:solidFill>
                <a:latin typeface="Menlo"/>
              </a:rPr>
              <a:t>;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готовый</a:t>
            </a:r>
            <a:r>
              <a:rPr sz="900" dirty="0">
                <a:solidFill>
                  <a:srgbClr val="FFFFFF"/>
                </a:solidFill>
                <a:latin typeface="Menlo"/>
              </a:rPr>
              <a:t> @capacitor-community/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bluetooth</a:t>
            </a:r>
            <a:r>
              <a:rPr sz="900" dirty="0">
                <a:solidFill>
                  <a:srgbClr val="FFFFFF"/>
                </a:solidFill>
                <a:latin typeface="Menlo"/>
              </a:rPr>
              <a:t>-le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умеет</a:t>
            </a:r>
            <a:r>
              <a:rPr sz="900" dirty="0">
                <a:solidFill>
                  <a:srgbClr val="FFFFFF"/>
                </a:solidFill>
                <a:latin typeface="Menlo"/>
              </a:rPr>
              <a:t> central-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роль</a:t>
            </a:r>
            <a:r>
              <a:rPr sz="900" dirty="0">
                <a:solidFill>
                  <a:srgbClr val="FFFFFF"/>
                </a:solidFill>
                <a:latin typeface="Menlo"/>
              </a:rPr>
              <a:t> (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скан</a:t>
            </a:r>
            <a:r>
              <a:rPr sz="900" dirty="0">
                <a:solidFill>
                  <a:srgbClr val="FFFFFF"/>
                </a:solidFill>
                <a:latin typeface="Menlo"/>
              </a:rPr>
              <a:t>,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подключение</a:t>
            </a:r>
            <a:r>
              <a:rPr sz="900" dirty="0">
                <a:solidFill>
                  <a:srgbClr val="FFFFFF"/>
                </a:solidFill>
                <a:latin typeface="Menlo"/>
              </a:rPr>
              <a:t>, read/write/notify)</a:t>
            </a:r>
          </a:p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900">
                <a:latin typeface="Menlo"/>
              </a:defRPr>
            </a:pPr>
            <a:r>
              <a:rPr sz="900" b="1" dirty="0">
                <a:solidFill>
                  <a:srgbClr val="6FD3F5"/>
                </a:solidFill>
                <a:latin typeface="Menlo"/>
              </a:rPr>
              <a:t>Central-only — </a:t>
            </a:r>
            <a:r>
              <a:rPr sz="900" b="1" dirty="0" err="1">
                <a:solidFill>
                  <a:srgbClr val="6FD3F5"/>
                </a:solidFill>
                <a:latin typeface="Menlo"/>
              </a:rPr>
              <a:t>не</a:t>
            </a:r>
            <a:r>
              <a:rPr sz="900" b="1" dirty="0">
                <a:solidFill>
                  <a:srgbClr val="6FD3F5"/>
                </a:solidFill>
                <a:latin typeface="Menlo"/>
              </a:rPr>
              <a:t> </a:t>
            </a:r>
            <a:r>
              <a:rPr sz="900" b="1" dirty="0" err="1">
                <a:solidFill>
                  <a:srgbClr val="6FD3F5"/>
                </a:solidFill>
                <a:latin typeface="Menlo"/>
              </a:rPr>
              <a:t>баг</a:t>
            </a:r>
            <a:r>
              <a:rPr sz="900" b="1" dirty="0">
                <a:solidFill>
                  <a:srgbClr val="6FD3F5"/>
                </a:solidFill>
                <a:latin typeface="Menlo"/>
              </a:rPr>
              <a:t>: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рекламиться</a:t>
            </a:r>
            <a:r>
              <a:rPr sz="900" dirty="0">
                <a:solidFill>
                  <a:srgbClr val="FFFFFF"/>
                </a:solidFill>
                <a:latin typeface="Menlo"/>
              </a:rPr>
              <a:t> (peripheral)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должен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только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хаб</a:t>
            </a:r>
            <a:r>
              <a:rPr sz="900" dirty="0">
                <a:solidFill>
                  <a:srgbClr val="FFFFFF"/>
                </a:solidFill>
                <a:latin typeface="Menlo"/>
              </a:rPr>
              <a:t>,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студентам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хватает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клиента</a:t>
            </a:r>
            <a:endParaRPr sz="900" dirty="0">
              <a:solidFill>
                <a:srgbClr val="FFFFFF"/>
              </a:solidFill>
              <a:latin typeface="Menlo"/>
            </a:endParaRPr>
          </a:p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900">
                <a:latin typeface="Menlo"/>
              </a:defRPr>
            </a:pPr>
            <a:r>
              <a:rPr sz="900" b="1" dirty="0" err="1">
                <a:solidFill>
                  <a:srgbClr val="6FD3F5"/>
                </a:solidFill>
                <a:latin typeface="Menlo"/>
              </a:rPr>
              <a:t>Бонус</a:t>
            </a:r>
            <a:r>
              <a:rPr sz="900" b="1" dirty="0">
                <a:solidFill>
                  <a:srgbClr val="6FD3F5"/>
                </a:solidFill>
                <a:latin typeface="Menlo"/>
              </a:rPr>
              <a:t>: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тот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же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код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остаётся</a:t>
            </a:r>
            <a:r>
              <a:rPr sz="900" dirty="0">
                <a:solidFill>
                  <a:srgbClr val="FFFFFF"/>
                </a:solidFill>
                <a:latin typeface="Menlo"/>
              </a:rPr>
              <a:t> PWA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в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браузере</a:t>
            </a:r>
            <a:r>
              <a:rPr sz="900" dirty="0">
                <a:solidFill>
                  <a:srgbClr val="FFFFFF"/>
                </a:solidFill>
                <a:latin typeface="Menlo"/>
              </a:rPr>
              <a:t> —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онлайн-фолбэк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без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установки</a:t>
            </a:r>
            <a:endParaRPr sz="900" dirty="0">
              <a:solidFill>
                <a:srgbClr val="FFFFFF"/>
              </a:solidFill>
              <a:latin typeface="Menlo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54880" y="1600200"/>
            <a:ext cx="3840480" cy="4480560"/>
          </a:xfrm>
          <a:prstGeom prst="rect">
            <a:avLst/>
          </a:prstGeom>
          <a:solidFill>
            <a:srgbClr val="071833"/>
          </a:solidFill>
          <a:ln w="9525">
            <a:solidFill>
              <a:srgbClr val="4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1691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1">
                <a:solidFill>
                  <a:srgbClr val="6FD3F5"/>
                </a:solidFill>
                <a:latin typeface="Menlo"/>
              </a:defRPr>
            </a:pPr>
            <a:r>
              <a:t>СЛОИ ПРИЛОЖЕНИЯ СТУДЕНТА: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2057400"/>
            <a:ext cx="3291840" cy="685800"/>
          </a:xfrm>
          <a:prstGeom prst="rect">
            <a:avLst/>
          </a:prstGeom>
          <a:solidFill>
            <a:srgbClr val="1E6FEB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65776" y="2084831"/>
            <a:ext cx="3218688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900" b="1">
                <a:solidFill>
                  <a:srgbClr val="FFFFFF"/>
                </a:solidFill>
                <a:latin typeface="Menlo"/>
              </a:defRPr>
            </a:pPr>
            <a:r>
              <a:t>Нативная оболочка (Capacitor)</a:t>
            </a:r>
            <a:br/>
            <a:r>
              <a:t>разрешения ОС · BLE-плагин · фон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629400" y="2788920"/>
            <a:ext cx="109728" cy="128016"/>
          </a:xfrm>
          <a:prstGeom prst="downArrow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0" y="3017520"/>
            <a:ext cx="3291840" cy="685800"/>
          </a:xfrm>
          <a:prstGeom prst="rect">
            <a:avLst/>
          </a:prstGeom>
          <a:solidFill>
            <a:srgbClr val="0A2244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65776" y="3044951"/>
            <a:ext cx="3218688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900" b="0">
                <a:solidFill>
                  <a:srgbClr val="9BE7FF"/>
                </a:solidFill>
                <a:latin typeface="Menlo"/>
              </a:defRPr>
            </a:pPr>
            <a:r>
              <a:t>WebView — наш веб-код</a:t>
            </a:r>
            <a:br/>
            <a:r>
              <a:t>UI · логика · подписи фактов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629400" y="3749039"/>
            <a:ext cx="109728" cy="128016"/>
          </a:xfrm>
          <a:prstGeom prst="downArrow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0" y="3977639"/>
            <a:ext cx="3291840" cy="685800"/>
          </a:xfrm>
          <a:prstGeom prst="rect">
            <a:avLst/>
          </a:prstGeom>
          <a:solidFill>
            <a:srgbClr val="0A2244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65776" y="4005072"/>
            <a:ext cx="3218688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900" b="0">
                <a:solidFill>
                  <a:srgbClr val="FFFFFF"/>
                </a:solidFill>
                <a:latin typeface="Menlo"/>
              </a:defRPr>
            </a:pPr>
            <a:r>
              <a:t>Giper Baza → IndexedDB</a:t>
            </a:r>
            <a:br/>
            <a:r>
              <a:t>офлайн-хранение доказательств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8920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8FA3BF"/>
                </a:solidFill>
                <a:latin typeface="Menlo"/>
              </a:defRPr>
            </a:pPr>
            <a:r>
              <a:t>Один код — три оболочки: iOS-приложение, Android-приложение, вкладка браузера (PWA).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44768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1">
                <a:solidFill>
                  <a:srgbClr val="9BE7FF"/>
                </a:solidFill>
                <a:latin typeface="Menlo"/>
              </a:defRPr>
            </a:pPr>
            <a:r>
              <a:t>Доставка без App Store:  iOS — TestFlight (до 10 000 внешних тестеров, бета-ревью проще релизного)  ·  Android — APK напрямую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24720FF0-FE9B-DABA-2FD0-540148044A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29" t="6638" r="9308" b="6818"/>
          <a:stretch>
            <a:fillRect/>
          </a:stretch>
        </p:blipFill>
        <p:spPr>
          <a:xfrm>
            <a:off x="8356762" y="73296"/>
            <a:ext cx="729049" cy="8351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9900"/>
            <a:ext cx="9144000" cy="38100"/>
          </a:xfrm>
          <a:prstGeom prst="rect">
            <a:avLst/>
          </a:prstGeom>
          <a:solidFill>
            <a:srgbClr val="1E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1">
                <a:solidFill>
                  <a:srgbClr val="4D9BFF"/>
                </a:solidFill>
                <a:latin typeface="Menlo"/>
              </a:defRPr>
            </a:pPr>
            <a:r>
              <a:t>ВЫБОР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600" b="1">
                <a:solidFill>
                  <a:srgbClr val="FFFFFF"/>
                </a:solidFill>
                <a:latin typeface="Menlo"/>
              </a:defRPr>
            </a:pPr>
            <a:r>
              <a:t>ПОЧЕМУ BLE + CAPACITOR-ПЛАГИН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9BE7FF"/>
                </a:solidFill>
                <a:latin typeface="Menlo"/>
              </a:defRPr>
            </a:pPr>
            <a:r>
              <a:t>Сводка по всем рассмотренным вариантам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8046720" cy="19050"/>
          </a:xfrm>
          <a:prstGeom prst="rect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8046720" cy="548640"/>
          </a:xfrm>
          <a:prstGeom prst="rect">
            <a:avLst/>
          </a:prstGeom>
          <a:solidFill>
            <a:srgbClr val="071833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6002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50" b="1">
                <a:solidFill>
                  <a:srgbClr val="FFFFFF"/>
                </a:solidFill>
                <a:latin typeface="Menlo"/>
              </a:defRPr>
            </a:pPr>
            <a:r>
              <a:t>BLE GATT + Capacitor-плагин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600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50" b="1">
                <a:solidFill>
                  <a:srgbClr val="53E0A0"/>
                </a:solidFill>
                <a:latin typeface="Menlo"/>
              </a:defRPr>
            </a:pPr>
            <a:r>
              <a:t>ВЫБОР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6002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50" b="0">
                <a:solidFill>
                  <a:srgbClr val="9BE7FF"/>
                </a:solidFill>
                <a:latin typeface="Menlo"/>
              </a:defRPr>
            </a:pPr>
            <a:r>
              <a:t>надёжно iOS+Android; хаб = peripheral, студенты = central; доказательство близости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76272"/>
            <a:ext cx="8046720" cy="548640"/>
          </a:xfrm>
          <a:prstGeom prst="rect">
            <a:avLst/>
          </a:prstGeom>
          <a:solidFill>
            <a:srgbClr val="071833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2221991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50" b="1">
                <a:solidFill>
                  <a:srgbClr val="FFFFFF"/>
                </a:solidFill>
                <a:latin typeface="Menlo"/>
              </a:defRPr>
            </a:pPr>
            <a:r>
              <a:t>Wi-Fi LAN хаба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221991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50" b="1">
                <a:solidFill>
                  <a:srgbClr val="4D9BFF"/>
                </a:solidFill>
                <a:latin typeface="Menlo"/>
              </a:defRPr>
            </a:pPr>
            <a:r>
              <a:t>ЗАПАСНОЙ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221991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50" b="0">
                <a:solidFill>
                  <a:srgbClr val="9BE7FF"/>
                </a:solidFill>
                <a:latin typeface="Menlo"/>
              </a:defRPr>
            </a:pPr>
            <a:r>
              <a:t>десятки HTTP-отметок/сек; BLE-маяк остаётся обязательным фактором близости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98064"/>
            <a:ext cx="8046720" cy="548640"/>
          </a:xfrm>
          <a:prstGeom prst="rect">
            <a:avLst/>
          </a:prstGeom>
          <a:solidFill>
            <a:srgbClr val="071833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284378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50" b="1">
                <a:solidFill>
                  <a:srgbClr val="FFFFFF"/>
                </a:solidFill>
                <a:latin typeface="Menlo"/>
              </a:defRPr>
            </a:pPr>
            <a:r>
              <a:t>Web Bluetooth (браузер)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84378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50" b="1">
                <a:solidFill>
                  <a:srgbClr val="FF6B81"/>
                </a:solidFill>
                <a:latin typeface="Menlo"/>
              </a:defRPr>
            </a:pPr>
            <a:r>
              <a:t>НЕТ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843784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50" b="0">
                <a:solidFill>
                  <a:srgbClr val="9BE7FF"/>
                </a:solidFill>
                <a:latin typeface="Menlo"/>
              </a:defRPr>
            </a:pPr>
            <a:r>
              <a:t>нет Safari/iPhone вообще; Chromium ~76%; peripheral стандарт не умеет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419856"/>
            <a:ext cx="8046720" cy="548640"/>
          </a:xfrm>
          <a:prstGeom prst="rect">
            <a:avLst/>
          </a:prstGeom>
          <a:solidFill>
            <a:srgbClr val="071833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" y="3465576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50" b="1">
                <a:solidFill>
                  <a:srgbClr val="FFFFFF"/>
                </a:solidFill>
                <a:latin typeface="Menlo"/>
              </a:defRPr>
            </a:pPr>
            <a:r>
              <a:t>NFC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46557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50" b="1">
                <a:solidFill>
                  <a:srgbClr val="FF6B81"/>
                </a:solidFill>
                <a:latin typeface="Menlo"/>
              </a:defRPr>
            </a:pPr>
            <a:r>
              <a:t>НЕТ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465576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50" b="0">
                <a:solidFill>
                  <a:srgbClr val="9BE7FF"/>
                </a:solidFill>
                <a:latin typeface="Menlo"/>
              </a:defRPr>
            </a:pPr>
            <a:r>
              <a:t>касание 1–4 см — очередь из аудитории; Web NFC нет P2P на iOS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041648"/>
            <a:ext cx="8046720" cy="548640"/>
          </a:xfrm>
          <a:prstGeom prst="rect">
            <a:avLst/>
          </a:prstGeom>
          <a:solidFill>
            <a:srgbClr val="071833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" y="408736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50" b="1">
                <a:solidFill>
                  <a:srgbClr val="FFFFFF"/>
                </a:solidFill>
                <a:latin typeface="Menlo"/>
              </a:defRPr>
            </a:pPr>
            <a:r>
              <a:t>UWB / Channel Sounding (BT 6.0)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40873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50" b="1">
                <a:solidFill>
                  <a:srgbClr val="8FA3BF"/>
                </a:solidFill>
                <a:latin typeface="Menlo"/>
              </a:defRPr>
            </a:pPr>
            <a:r>
              <a:t>ПОЗЖЕ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08736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50" b="0">
                <a:solidFill>
                  <a:srgbClr val="9BE7FF"/>
                </a:solidFill>
                <a:latin typeface="Menlo"/>
              </a:defRPr>
            </a:pPr>
            <a:r>
              <a:t>криптозащита от relay-атак; пока мало устройств с поддержкой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663440"/>
            <a:ext cx="8046720" cy="548640"/>
          </a:xfrm>
          <a:prstGeom prst="rect">
            <a:avLst/>
          </a:prstGeom>
          <a:solidFill>
            <a:srgbClr val="071833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232" y="4709159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50" b="1">
                <a:solidFill>
                  <a:srgbClr val="FFFFFF"/>
                </a:solidFill>
                <a:latin typeface="Menlo"/>
              </a:defRPr>
            </a:pPr>
            <a:r>
              <a:t>Wi-Fi Aware / NAN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470915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50" b="1">
                <a:solidFill>
                  <a:srgbClr val="8FA3BF"/>
                </a:solidFill>
                <a:latin typeface="Menlo"/>
              </a:defRPr>
            </a:pPr>
            <a:r>
              <a:t>ПОЗЖЕ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709159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50" b="0">
                <a:solidFill>
                  <a:srgbClr val="9BE7FF"/>
                </a:solidFill>
                <a:latin typeface="Menlo"/>
              </a:defRPr>
            </a:pPr>
            <a:r>
              <a:t>поиск без роутера; Android 8+ не на всех чипах, Apple — с 2025 (iPhone 12+)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285231"/>
            <a:ext cx="8046720" cy="548640"/>
          </a:xfrm>
          <a:prstGeom prst="rect">
            <a:avLst/>
          </a:prstGeom>
          <a:solidFill>
            <a:srgbClr val="071833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3232" y="5330951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50" b="1">
                <a:solidFill>
                  <a:srgbClr val="FFFFFF"/>
                </a:solidFill>
                <a:latin typeface="Menlo"/>
              </a:defRPr>
            </a:pPr>
            <a:r>
              <a:t>BLE mesh (Bitchat и др.)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5330951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50" b="1">
                <a:solidFill>
                  <a:srgbClr val="FF6B81"/>
                </a:solidFill>
                <a:latin typeface="Menlo"/>
              </a:defRPr>
            </a:pPr>
            <a:r>
              <a:t>НЕТ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5330951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50" b="0">
                <a:solidFill>
                  <a:srgbClr val="9BE7FF"/>
                </a:solidFill>
                <a:latin typeface="Menlo"/>
              </a:defRPr>
            </a:pPr>
            <a:r>
              <a:t>ретрансляция чужими телефонами = невозможность доказать аудиторию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907023"/>
            <a:ext cx="8046720" cy="548640"/>
          </a:xfrm>
          <a:prstGeom prst="rect">
            <a:avLst/>
          </a:prstGeom>
          <a:solidFill>
            <a:srgbClr val="071833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" y="5952743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50" b="1">
                <a:solidFill>
                  <a:srgbClr val="FFFFFF"/>
                </a:solidFill>
                <a:latin typeface="Menlo"/>
              </a:defRPr>
            </a:pPr>
            <a:r>
              <a:t>LoRa / Meshtastic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29000" y="5952743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50" b="1">
                <a:solidFill>
                  <a:srgbClr val="FF6B81"/>
                </a:solidFill>
                <a:latin typeface="Menlo"/>
              </a:defRPr>
            </a:pPr>
            <a:r>
              <a:t>НЕТ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5952743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50" b="0">
                <a:solidFill>
                  <a:srgbClr val="9BE7FF"/>
                </a:solidFill>
                <a:latin typeface="Menlo"/>
              </a:defRPr>
            </a:pPr>
            <a:r>
              <a:t>километры, но байты/сек и своё железо у каждого — не для комнаты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556247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50" b="0">
                <a:solidFill>
                  <a:srgbClr val="8FA3BF"/>
                </a:solidFill>
                <a:latin typeface="Menlo"/>
              </a:defRPr>
            </a:pPr>
            <a:r>
              <a:t>Wi-Fi LAN — «запасной», а не «второй основной»: подключение к сети требует ручного шага пользователя.</a:t>
            </a:r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F93E4F23-A555-0DF3-198A-CF301C7F99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29" t="6638" r="9308" b="6818"/>
          <a:stretch>
            <a:fillRect/>
          </a:stretch>
        </p:blipFill>
        <p:spPr>
          <a:xfrm>
            <a:off x="8356762" y="73296"/>
            <a:ext cx="729049" cy="8351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9900"/>
            <a:ext cx="9144000" cy="38100"/>
          </a:xfrm>
          <a:prstGeom prst="rect">
            <a:avLst/>
          </a:prstGeom>
          <a:solidFill>
            <a:srgbClr val="1E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1">
                <a:solidFill>
                  <a:srgbClr val="4D9BFF"/>
                </a:solidFill>
                <a:latin typeface="Menlo"/>
              </a:defRPr>
            </a:pPr>
            <a:r>
              <a:t>СТРАТЕГИЯ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600" b="1">
                <a:solidFill>
                  <a:srgbClr val="FFFFFF"/>
                </a:solidFill>
                <a:latin typeface="Menlo"/>
              </a:defRPr>
            </a:pPr>
            <a:r>
              <a:t>MVP → TARGET: ТРИ ПУТИ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9BE7FF"/>
                </a:solidFill>
                <a:latin typeface="Menlo"/>
              </a:defRPr>
            </a:pPr>
            <a:r>
              <a:t>Какой канал берём в пилот и куда приходим в целевой системе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8046720" cy="19050"/>
          </a:xfrm>
          <a:prstGeom prst="rect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92240" y="1554480"/>
            <a:ext cx="2103120" cy="3977639"/>
          </a:xfrm>
          <a:prstGeom prst="rect">
            <a:avLst/>
          </a:prstGeom>
          <a:solidFill>
            <a:srgbClr val="0A2244"/>
          </a:solidFill>
          <a:ln w="15875">
            <a:solidFill>
              <a:srgbClr val="53E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62763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50" b="1">
                <a:solidFill>
                  <a:srgbClr val="6FD3F5"/>
                </a:solidFill>
                <a:latin typeface="Menlo"/>
              </a:defRPr>
            </a:pPr>
            <a:r>
              <a:t>КРИТЕРИЙ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627632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50" b="1">
                <a:solidFill>
                  <a:srgbClr val="FFFFFF"/>
                </a:solidFill>
                <a:latin typeface="Menlo"/>
              </a:defRPr>
            </a:pPr>
            <a:r>
              <a:t>1 · MVP: ОНЛАЙН-QR</a:t>
            </a:r>
            <a:br/>
            <a:r>
              <a:t>TARGET: ОФЛАЙН-BLE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27632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50" b="1">
                <a:solidFill>
                  <a:srgbClr val="FFFFFF"/>
                </a:solidFill>
                <a:latin typeface="Menlo"/>
              </a:defRPr>
            </a:pPr>
            <a:r>
              <a:t>2 · MVP: ОНЛАЙН-BLE</a:t>
            </a:r>
            <a:br/>
            <a:r>
              <a:t>без Baza → T: +Baza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62763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50" b="1">
                <a:solidFill>
                  <a:srgbClr val="53E0A0"/>
                </a:solidFill>
                <a:latin typeface="Menlo"/>
              </a:defRPr>
            </a:pPr>
            <a:r>
              <a:t>3 · MVP: ОФЛАЙН-BLE</a:t>
            </a:r>
            <a:br/>
            <a:r>
              <a:t>с Baza сразу  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1671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50" b="1">
                <a:solidFill>
                  <a:srgbClr val="FFFFFF"/>
                </a:solidFill>
                <a:latin typeface="Menlo"/>
              </a:defRPr>
            </a:pPr>
            <a:r>
              <a:t>Время в MVP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167128"/>
            <a:ext cx="18470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53E0A0"/>
                </a:solidFill>
                <a:latin typeface="Menlo"/>
              </a:defRPr>
            </a:pPr>
            <a:r>
              <a:t>сервер штампует приём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67128"/>
            <a:ext cx="18470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53E0A0"/>
                </a:solidFill>
                <a:latin typeface="Menlo"/>
              </a:defRPr>
            </a:pPr>
            <a:r>
              <a:t>сервер штампует приём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167128"/>
            <a:ext cx="1984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53E0A0"/>
                </a:solidFill>
                <a:latin typeface="Menlo"/>
              </a:defRPr>
            </a:pPr>
            <a:r>
              <a:t>witness-окно хаба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51176"/>
            <a:ext cx="8046720" cy="6350"/>
          </a:xfrm>
          <a:prstGeom prst="rect">
            <a:avLst/>
          </a:prstGeom>
          <a:solidFill>
            <a:srgbClr val="0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50" b="1">
                <a:solidFill>
                  <a:srgbClr val="FFFFFF"/>
                </a:solidFill>
                <a:latin typeface="Menlo"/>
              </a:defRPr>
            </a:pPr>
            <a:r>
              <a:t>Присутствие в MVP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2651760"/>
            <a:ext cx="18470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FF6B81"/>
                </a:solidFill>
                <a:latin typeface="Menlo"/>
              </a:defRPr>
            </a:pPr>
            <a:r>
              <a:t>нет: скриншот / ссылка другу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651760"/>
            <a:ext cx="18470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53E0A0"/>
                </a:solidFill>
                <a:latin typeface="Menlo"/>
              </a:defRPr>
            </a:pPr>
            <a:r>
              <a:t>да: радио-касание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651760"/>
            <a:ext cx="1984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53E0A0"/>
                </a:solidFill>
                <a:latin typeface="Menlo"/>
              </a:defRPr>
            </a:pPr>
            <a:r>
              <a:t>да: радио-касание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35808"/>
            <a:ext cx="8046720" cy="6350"/>
          </a:xfrm>
          <a:prstGeom prst="rect">
            <a:avLst/>
          </a:prstGeom>
          <a:solidFill>
            <a:srgbClr val="0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31363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50" b="1">
                <a:solidFill>
                  <a:srgbClr val="FFFFFF"/>
                </a:solidFill>
                <a:latin typeface="Menlo"/>
              </a:defRPr>
            </a:pPr>
            <a:r>
              <a:t>Установка студенту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3136392"/>
            <a:ext cx="18470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53E0A0"/>
                </a:solidFill>
                <a:latin typeface="Menlo"/>
              </a:defRPr>
            </a:pPr>
            <a:r>
              <a:t>не нужна: камера → ссылка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136392"/>
            <a:ext cx="18470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FFFFFF"/>
                </a:solidFill>
                <a:latin typeface="Menlo"/>
              </a:defRPr>
            </a:pPr>
            <a:r>
              <a:t>нативное приложение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136392"/>
            <a:ext cx="1984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FFFFFF"/>
                </a:solidFill>
                <a:latin typeface="Menlo"/>
              </a:defRPr>
            </a:pPr>
            <a:r>
              <a:t>нативное приложение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520440"/>
            <a:ext cx="8046720" cy="6350"/>
          </a:xfrm>
          <a:prstGeom prst="rect">
            <a:avLst/>
          </a:prstGeom>
          <a:solidFill>
            <a:srgbClr val="0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3621024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50" b="1">
                <a:solidFill>
                  <a:srgbClr val="FFFFFF"/>
                </a:solidFill>
                <a:latin typeface="Menlo"/>
              </a:defRPr>
            </a:pPr>
            <a:r>
              <a:t>Хранение в MVP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3621024"/>
            <a:ext cx="18470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FFFFFF"/>
                </a:solidFill>
                <a:latin typeface="Menlo"/>
              </a:defRPr>
            </a:pPr>
            <a:r>
              <a:t>серверная БД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3621024"/>
            <a:ext cx="18470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9BE7FF"/>
                </a:solidFill>
                <a:latin typeface="Menlo"/>
              </a:defRPr>
            </a:pPr>
            <a:r>
              <a:t>простое хранилище + REST, без Baza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3621024"/>
            <a:ext cx="1984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FFFFFF"/>
                </a:solidFill>
                <a:latin typeface="Menlo"/>
              </a:defRPr>
            </a:pPr>
            <a:r>
              <a:t>Giper Baza с первого дня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005072"/>
            <a:ext cx="8046720" cy="6350"/>
          </a:xfrm>
          <a:prstGeom prst="rect">
            <a:avLst/>
          </a:prstGeom>
          <a:solidFill>
            <a:srgbClr val="0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" y="410565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50" b="1">
                <a:solidFill>
                  <a:srgbClr val="FFFFFF"/>
                </a:solidFill>
                <a:latin typeface="Menlo"/>
              </a:defRPr>
            </a:pPr>
            <a:r>
              <a:t>Выбрасываемый код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4105656"/>
            <a:ext cx="18470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FF6B81"/>
                </a:solidFill>
                <a:latin typeface="Menlo"/>
              </a:defRPr>
            </a:pPr>
            <a:r>
              <a:t>много: QR-ветка + онлайн-логика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105656"/>
            <a:ext cx="18470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FF6B81"/>
                </a:solidFill>
                <a:latin typeface="Menlo"/>
              </a:defRPr>
            </a:pPr>
            <a:r>
              <a:t>слой хранения и синка: REST → Baza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105656"/>
            <a:ext cx="1984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53E0A0"/>
                </a:solidFill>
                <a:latin typeface="Menlo"/>
              </a:defRPr>
            </a:pPr>
            <a:r>
              <a:t>нет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489704"/>
            <a:ext cx="8046720" cy="6350"/>
          </a:xfrm>
          <a:prstGeom prst="rect">
            <a:avLst/>
          </a:prstGeom>
          <a:solidFill>
            <a:srgbClr val="0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66928" y="459028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50" b="1">
                <a:solidFill>
                  <a:srgbClr val="FFFFFF"/>
                </a:solidFill>
                <a:latin typeface="Menlo"/>
              </a:defRPr>
            </a:pPr>
            <a:r>
              <a:t>UX MVP vs Target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06040" y="4590288"/>
            <a:ext cx="18470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FF6B81"/>
                </a:solidFill>
                <a:latin typeface="Menlo"/>
              </a:defRPr>
            </a:pPr>
            <a:r>
              <a:t>разный — переучивание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4590288"/>
            <a:ext cx="18470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53E0A0"/>
                </a:solidFill>
                <a:latin typeface="Menlo"/>
              </a:defRPr>
            </a:pPr>
            <a:r>
              <a:t>одинаковый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4590288"/>
            <a:ext cx="1984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53E0A0"/>
                </a:solidFill>
                <a:latin typeface="Menlo"/>
              </a:defRPr>
            </a:pPr>
            <a:r>
              <a:t>одинаковый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974336"/>
            <a:ext cx="8046720" cy="6350"/>
          </a:xfrm>
          <a:prstGeom prst="rect">
            <a:avLst/>
          </a:prstGeom>
          <a:solidFill>
            <a:srgbClr val="0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66928" y="5074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50" b="1">
                <a:solidFill>
                  <a:srgbClr val="FFFFFF"/>
                </a:solidFill>
                <a:latin typeface="Menlo"/>
              </a:defRPr>
            </a:pPr>
            <a:r>
              <a:t>Скорость до демо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06040" y="5074920"/>
            <a:ext cx="18470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53E0A0"/>
                </a:solidFill>
                <a:latin typeface="Menlo"/>
              </a:defRPr>
            </a:pPr>
            <a:r>
              <a:t>самая быстрая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5074920"/>
            <a:ext cx="18470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53E0A0"/>
                </a:solidFill>
                <a:latin typeface="Menlo"/>
              </a:defRPr>
            </a:pPr>
            <a:r>
              <a:t>быстрая: нет слоя синка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5074920"/>
            <a:ext cx="1984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FFFFFF"/>
                </a:solidFill>
                <a:latin typeface="Menlo"/>
              </a:defRPr>
            </a:pPr>
            <a:r>
              <a:t>средняя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458968"/>
            <a:ext cx="8046720" cy="6350"/>
          </a:xfrm>
          <a:prstGeom prst="rect">
            <a:avLst/>
          </a:prstGeom>
          <a:solidFill>
            <a:srgbClr val="0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48640" y="5586984"/>
            <a:ext cx="8046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900">
                <a:latin typeface="Menlo"/>
              </a:defRPr>
            </a:pPr>
            <a:r>
              <a:rPr sz="900" b="1">
                <a:solidFill>
                  <a:srgbClr val="6FD3F5"/>
                </a:solidFill>
                <a:latin typeface="Menlo"/>
              </a:rPr>
              <a:t>Путь 2 — быстрый старт «без Baza» (вариант коллеги): </a:t>
            </a:r>
            <a:r>
              <a:rPr sz="900">
                <a:solidFill>
                  <a:srgbClr val="FFFFFF"/>
                </a:solidFill>
                <a:latin typeface="Menlo"/>
              </a:rPr>
              <a:t>радио и подписанные факты остаются, но при выходе в офлайн слой хранения/синка переписывается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900">
                <a:latin typeface="Menlo"/>
              </a:defRPr>
            </a:pPr>
            <a:r>
              <a:rPr sz="900" b="1">
                <a:solidFill>
                  <a:srgbClr val="6FD3F5"/>
                </a:solidFill>
                <a:latin typeface="Menlo"/>
              </a:rPr>
              <a:t>Выбираем путь 3: </a:t>
            </a:r>
            <a:r>
              <a:rPr sz="900">
                <a:solidFill>
                  <a:srgbClr val="FFFFFF"/>
                </a:solidFill>
                <a:latin typeface="Menlo"/>
              </a:rPr>
              <a:t>одна архитектура с Baza; онлайн — бесплатный частный случай; QR — только аварийный онлайн-фолбэк</a:t>
            </a:r>
          </a:p>
        </p:txBody>
      </p:sp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5187AEBC-E99F-A3F1-02DF-8C233F2227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29" t="6638" r="9308" b="6818"/>
          <a:stretch>
            <a:fillRect/>
          </a:stretch>
        </p:blipFill>
        <p:spPr>
          <a:xfrm>
            <a:off x="8356762" y="73296"/>
            <a:ext cx="729049" cy="8351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9900"/>
            <a:ext cx="9144000" cy="38100"/>
          </a:xfrm>
          <a:prstGeom prst="rect">
            <a:avLst/>
          </a:prstGeom>
          <a:solidFill>
            <a:srgbClr val="1E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1">
                <a:solidFill>
                  <a:srgbClr val="4D9BFF"/>
                </a:solidFill>
                <a:latin typeface="Menlo"/>
              </a:defRPr>
            </a:pPr>
            <a:r>
              <a:t>КЛЮЧЕВАЯ ИДЕЯ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600" b="1">
                <a:solidFill>
                  <a:srgbClr val="FFFFFF"/>
                </a:solidFill>
                <a:latin typeface="Menlo"/>
              </a:defRPr>
            </a:pPr>
            <a:r>
              <a:t>WITNESS: ХАБ — СВИДЕТЕЛЬ ВРЕМЕНИ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9BE7FF"/>
                </a:solidFill>
                <a:latin typeface="Menlo"/>
              </a:defRPr>
            </a:pPr>
            <a:r>
              <a:t>Доказательство своевременности даёт подпись хаба внутри открытого окна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8046720" cy="19050"/>
          </a:xfrm>
          <a:prstGeom prst="rect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8046720" cy="1965960"/>
          </a:xfrm>
          <a:prstGeom prst="rect">
            <a:avLst/>
          </a:prstGeom>
          <a:solidFill>
            <a:srgbClr val="071833"/>
          </a:solidFill>
          <a:ln w="9525">
            <a:solidFill>
              <a:srgbClr val="4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965960"/>
            <a:ext cx="2103120" cy="777240"/>
          </a:xfrm>
          <a:prstGeom prst="rect">
            <a:avLst/>
          </a:prstGeom>
          <a:solidFill>
            <a:srgbClr val="1E6FEB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" y="1993391"/>
            <a:ext cx="2029967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900" b="1">
                <a:solidFill>
                  <a:srgbClr val="FFFFFF"/>
                </a:solidFill>
                <a:latin typeface="Menlo"/>
              </a:defRPr>
            </a:pPr>
            <a:r>
              <a:t>ХАБ открывает окно</a:t>
            </a:r>
            <a:br/>
            <a:r>
              <a:t>SessionAnchor (подпись)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971800" y="2304288"/>
            <a:ext cx="201168" cy="109728"/>
          </a:xfrm>
          <a:prstGeom prst="rightArrow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46120" y="1965960"/>
            <a:ext cx="2103120" cy="777240"/>
          </a:xfrm>
          <a:prstGeom prst="rect">
            <a:avLst/>
          </a:prstGeom>
          <a:solidFill>
            <a:srgbClr val="0A2244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82696" y="1993391"/>
            <a:ext cx="2029967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900" b="0">
                <a:solidFill>
                  <a:srgbClr val="9BE7FF"/>
                </a:solidFill>
                <a:latin typeface="Menlo"/>
              </a:defRPr>
            </a:pPr>
            <a:r>
              <a:t>СТУДЕНТ отвечает</a:t>
            </a:r>
            <a:br/>
            <a:r>
              <a:t>Mark (своя подпись)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440680" y="2304288"/>
            <a:ext cx="201168" cy="109728"/>
          </a:xfrm>
          <a:prstGeom prst="rightArrow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0" y="1965960"/>
            <a:ext cx="2651760" cy="777240"/>
          </a:xfrm>
          <a:prstGeom prst="rect">
            <a:avLst/>
          </a:prstGeom>
          <a:solidFill>
            <a:srgbClr val="1E6FEB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51576" y="1993391"/>
            <a:ext cx="257860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900" b="1">
                <a:solidFill>
                  <a:srgbClr val="FFFFFF"/>
                </a:solidFill>
                <a:latin typeface="Menlo"/>
              </a:defRPr>
            </a:pPr>
            <a:r>
              <a:t>ХАБ возвращает Receipt</a:t>
            </a:r>
            <a:br/>
            <a:r>
              <a:t>«получил, пока окно открыто»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97180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6FD3F5"/>
                </a:solidFill>
                <a:latin typeface="Menlo"/>
              </a:defRPr>
            </a:pPr>
            <a:r>
              <a:t>Половинки доказательства: студент доказывает авторство, хаб — своевременность. Поодиночке не стоят ничего.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94760"/>
            <a:ext cx="8046720" cy="778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900">
                <a:latin typeface="Menlo"/>
              </a:defRPr>
            </a:pPr>
            <a:r>
              <a:rPr sz="900" b="1" dirty="0" err="1">
                <a:solidFill>
                  <a:srgbClr val="6FD3F5"/>
                </a:solidFill>
                <a:latin typeface="Menlo"/>
              </a:rPr>
              <a:t>Окно</a:t>
            </a:r>
            <a:r>
              <a:rPr sz="900" b="1" dirty="0">
                <a:solidFill>
                  <a:srgbClr val="6FD3F5"/>
                </a:solidFill>
                <a:latin typeface="Menlo"/>
              </a:rPr>
              <a:t> = </a:t>
            </a:r>
            <a:r>
              <a:rPr sz="900" b="1" dirty="0" err="1">
                <a:solidFill>
                  <a:srgbClr val="6FD3F5"/>
                </a:solidFill>
                <a:latin typeface="Menlo"/>
              </a:rPr>
              <a:t>эпоха</a:t>
            </a:r>
            <a:r>
              <a:rPr sz="900" b="1" dirty="0">
                <a:solidFill>
                  <a:srgbClr val="6FD3F5"/>
                </a:solidFill>
                <a:latin typeface="Menlo"/>
              </a:rPr>
              <a:t>.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Якорь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перевыпускается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каждые</a:t>
            </a:r>
            <a:r>
              <a:rPr sz="900" dirty="0">
                <a:solidFill>
                  <a:srgbClr val="FFFFFF"/>
                </a:solidFill>
                <a:latin typeface="Menlo"/>
              </a:rPr>
              <a:t> N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минут</a:t>
            </a:r>
            <a:r>
              <a:rPr sz="900" dirty="0">
                <a:solidFill>
                  <a:srgbClr val="FFFFFF"/>
                </a:solidFill>
                <a:latin typeface="Menlo"/>
              </a:rPr>
              <a:t>,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цепочкой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prev_anchor_hash</a:t>
            </a:r>
            <a:r>
              <a:rPr sz="900" dirty="0">
                <a:solidFill>
                  <a:srgbClr val="FFFFFF"/>
                </a:solidFill>
                <a:latin typeface="Menlo"/>
              </a:rPr>
              <a:t> — «QR-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ротация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по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радио</a:t>
            </a:r>
            <a:r>
              <a:rPr sz="900" dirty="0">
                <a:solidFill>
                  <a:srgbClr val="FFFFFF"/>
                </a:solidFill>
                <a:latin typeface="Menlo"/>
              </a:rPr>
              <a:t>»</a:t>
            </a:r>
          </a:p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900">
                <a:latin typeface="Menlo"/>
              </a:defRPr>
            </a:pPr>
            <a:r>
              <a:rPr sz="900" b="1" dirty="0" err="1">
                <a:solidFill>
                  <a:srgbClr val="6FD3F5"/>
                </a:solidFill>
                <a:latin typeface="Menlo"/>
              </a:rPr>
              <a:t>Поля</a:t>
            </a:r>
            <a:r>
              <a:rPr sz="900" b="1" dirty="0">
                <a:solidFill>
                  <a:srgbClr val="6FD3F5"/>
                </a:solidFill>
                <a:latin typeface="Menlo"/>
              </a:rPr>
              <a:t> </a:t>
            </a:r>
            <a:r>
              <a:rPr sz="900" b="1" dirty="0" err="1">
                <a:solidFill>
                  <a:srgbClr val="6FD3F5"/>
                </a:solidFill>
                <a:latin typeface="Menlo"/>
              </a:rPr>
              <a:t>времени</a:t>
            </a:r>
            <a:r>
              <a:rPr sz="900" b="1" dirty="0">
                <a:solidFill>
                  <a:srgbClr val="6FD3F5"/>
                </a:solidFill>
                <a:latin typeface="Menlo"/>
              </a:rPr>
              <a:t> </a:t>
            </a:r>
            <a:r>
              <a:rPr sz="900" b="1" dirty="0" err="1">
                <a:solidFill>
                  <a:srgbClr val="6FD3F5"/>
                </a:solidFill>
                <a:latin typeface="Menlo"/>
              </a:rPr>
              <a:t>в</a:t>
            </a:r>
            <a:r>
              <a:rPr sz="900" b="1" dirty="0">
                <a:solidFill>
                  <a:srgbClr val="6FD3F5"/>
                </a:solidFill>
                <a:latin typeface="Menlo"/>
              </a:rPr>
              <a:t> Mark </a:t>
            </a:r>
            <a:r>
              <a:rPr sz="900" b="1" dirty="0" err="1">
                <a:solidFill>
                  <a:srgbClr val="6FD3F5"/>
                </a:solidFill>
                <a:latin typeface="Menlo"/>
              </a:rPr>
              <a:t>нет</a:t>
            </a:r>
            <a:r>
              <a:rPr sz="900" b="1" dirty="0">
                <a:solidFill>
                  <a:srgbClr val="6FD3F5"/>
                </a:solidFill>
                <a:latin typeface="Menlo"/>
              </a:rPr>
              <a:t>.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Оно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выводится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из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окна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якоря</a:t>
            </a:r>
            <a:r>
              <a:rPr sz="900" dirty="0">
                <a:solidFill>
                  <a:srgbClr val="FFFFFF"/>
                </a:solidFill>
                <a:latin typeface="Menlo"/>
              </a:rPr>
              <a:t> —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минимализм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по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построению</a:t>
            </a:r>
            <a:endParaRPr sz="900" dirty="0">
              <a:solidFill>
                <a:srgbClr val="FFFFFF"/>
              </a:solidFill>
              <a:latin typeface="Menlo"/>
            </a:endParaRPr>
          </a:p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900">
                <a:latin typeface="Menlo"/>
              </a:defRPr>
            </a:pPr>
            <a:r>
              <a:rPr sz="900" b="1" dirty="0" err="1">
                <a:solidFill>
                  <a:srgbClr val="6FD3F5"/>
                </a:solidFill>
                <a:latin typeface="Menlo"/>
              </a:rPr>
              <a:t>WitnessBatch</a:t>
            </a:r>
            <a:r>
              <a:rPr sz="900" b="1" dirty="0">
                <a:solidFill>
                  <a:srgbClr val="6FD3F5"/>
                </a:solidFill>
                <a:latin typeface="Menlo"/>
              </a:rPr>
              <a:t>.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В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конце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пары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хаб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подписывает</a:t>
            </a:r>
            <a:r>
              <a:rPr sz="900" dirty="0">
                <a:solidFill>
                  <a:srgbClr val="FFFFFF"/>
                </a:solidFill>
                <a:latin typeface="Menlo"/>
              </a:rPr>
              <a:t> Merkle-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корень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всех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принятых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отметок</a:t>
            </a:r>
            <a:endParaRPr sz="900" dirty="0">
              <a:solidFill>
                <a:srgbClr val="FFFFFF"/>
              </a:solidFill>
              <a:latin typeface="Menlo"/>
            </a:endParaRPr>
          </a:p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900">
                <a:latin typeface="Menlo"/>
              </a:defRPr>
            </a:pPr>
            <a:r>
              <a:rPr sz="900" b="1" dirty="0">
                <a:solidFill>
                  <a:srgbClr val="6FD3F5"/>
                </a:solidFill>
                <a:latin typeface="Menlo"/>
              </a:rPr>
              <a:t>Mesh </a:t>
            </a:r>
            <a:r>
              <a:rPr sz="900" b="1" dirty="0" err="1">
                <a:solidFill>
                  <a:srgbClr val="6FD3F5"/>
                </a:solidFill>
                <a:latin typeface="Menlo"/>
              </a:rPr>
              <a:t>запрещён</a:t>
            </a:r>
            <a:r>
              <a:rPr sz="900" b="1" dirty="0">
                <a:solidFill>
                  <a:srgbClr val="6FD3F5"/>
                </a:solidFill>
                <a:latin typeface="Menlo"/>
              </a:rPr>
              <a:t>.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Только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один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прямой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хоп</a:t>
            </a:r>
            <a:r>
              <a:rPr sz="900" dirty="0">
                <a:solidFill>
                  <a:srgbClr val="FFFFFF"/>
                </a:solidFill>
                <a:latin typeface="Menlo"/>
              </a:rPr>
              <a:t>: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подпись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доказывает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авторство</a:t>
            </a:r>
            <a:r>
              <a:rPr sz="900" dirty="0">
                <a:solidFill>
                  <a:srgbClr val="FFFFFF"/>
                </a:solidFill>
                <a:latin typeface="Menlo"/>
              </a:rPr>
              <a:t>,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а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не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близость</a:t>
            </a:r>
            <a:endParaRPr sz="900" dirty="0">
              <a:solidFill>
                <a:srgbClr val="FFFFFF"/>
              </a:solidFill>
              <a:latin typeface="Menlo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5C267AA-023E-0143-4264-9E90F11B4F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29" t="6638" r="9308" b="6818"/>
          <a:stretch>
            <a:fillRect/>
          </a:stretch>
        </p:blipFill>
        <p:spPr>
          <a:xfrm>
            <a:off x="8356762" y="73296"/>
            <a:ext cx="729049" cy="8351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9900"/>
            <a:ext cx="9144000" cy="38100"/>
          </a:xfrm>
          <a:prstGeom prst="rect">
            <a:avLst/>
          </a:prstGeom>
          <a:solidFill>
            <a:srgbClr val="1E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1">
                <a:solidFill>
                  <a:srgbClr val="4D9BFF"/>
                </a:solidFill>
                <a:latin typeface="Menlo"/>
              </a:defRPr>
            </a:pPr>
            <a:r>
              <a:t>ТЕХНИЧЕСКИЕ ХАРАКТЕРИСТИКИ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600" b="1">
                <a:solidFill>
                  <a:srgbClr val="FFFFFF"/>
                </a:solidFill>
                <a:latin typeface="Menlo"/>
              </a:defRPr>
            </a:pPr>
            <a:r>
              <a:t>ПЛАТФОРМЫ, ЁМКОСТЬ, КАВЕРЗНЫЕ МОМЕНТЫ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9BE7FF"/>
                </a:solidFill>
                <a:latin typeface="Menlo"/>
              </a:defRPr>
            </a:pPr>
            <a:r>
              <a:t>Насколько хорошо это работает — и что делаем с проблемами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8046720" cy="19050"/>
          </a:xfrm>
          <a:prstGeom prst="rect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3931920" cy="2240280"/>
          </a:xfrm>
          <a:prstGeom prst="rect">
            <a:avLst/>
          </a:prstGeom>
          <a:solidFill>
            <a:srgbClr val="071833"/>
          </a:solidFill>
          <a:ln w="9525">
            <a:solidFill>
              <a:srgbClr val="4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6276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6FD3F5"/>
                </a:solidFill>
                <a:latin typeface="Menlo"/>
              </a:defRPr>
            </a:pPr>
            <a:r>
              <a:t>IPHONE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3657600" cy="124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900">
                <a:solidFill>
                  <a:srgbClr val="FFFFFF"/>
                </a:solidFill>
                <a:latin typeface="Menlo"/>
              </a:defRPr>
            </a:pPr>
            <a:r>
              <a:rPr dirty="0"/>
              <a:t>one-tap </a:t>
            </a:r>
            <a:r>
              <a:rPr dirty="0" err="1"/>
              <a:t>в</a:t>
            </a:r>
            <a:r>
              <a:rPr dirty="0"/>
              <a:t> foreground — </a:t>
            </a:r>
            <a:r>
              <a:rPr dirty="0" err="1"/>
              <a:t>надёжно</a:t>
            </a:r>
            <a:r>
              <a:rPr dirty="0"/>
              <a:t>,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ограничений</a:t>
            </a:r>
            <a:endParaRPr dirty="0"/>
          </a:p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900">
                <a:solidFill>
                  <a:srgbClr val="FFFFFF"/>
                </a:solidFill>
                <a:latin typeface="Menlo"/>
              </a:defRPr>
            </a:pPr>
            <a:r>
              <a:rPr dirty="0" err="1"/>
              <a:t>фон</a:t>
            </a:r>
            <a:r>
              <a:rPr dirty="0"/>
              <a:t>: </a:t>
            </a:r>
            <a:r>
              <a:rPr dirty="0" err="1"/>
              <a:t>скан</a:t>
            </a:r>
            <a:r>
              <a:rPr dirty="0"/>
              <a:t> </a:t>
            </a:r>
            <a:r>
              <a:rPr dirty="0" err="1"/>
              <a:t>замедляется</a:t>
            </a:r>
            <a:r>
              <a:rPr dirty="0"/>
              <a:t>, </a:t>
            </a:r>
            <a:r>
              <a:rPr dirty="0" err="1"/>
              <a:t>реклама</a:t>
            </a:r>
            <a:r>
              <a:rPr dirty="0"/>
              <a:t> </a:t>
            </a:r>
            <a:r>
              <a:rPr dirty="0" err="1"/>
              <a:t>вырезается</a:t>
            </a:r>
            <a:r>
              <a:rPr dirty="0"/>
              <a:t> — </a:t>
            </a:r>
            <a:r>
              <a:rPr dirty="0" err="1"/>
              <a:t>поэтому</a:t>
            </a:r>
            <a:r>
              <a:rPr dirty="0"/>
              <a:t> one-tap </a:t>
            </a:r>
            <a:r>
              <a:rPr dirty="0" err="1"/>
              <a:t>основной</a:t>
            </a:r>
            <a:endParaRPr dirty="0"/>
          </a:p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900">
                <a:solidFill>
                  <a:srgbClr val="FFFFFF"/>
                </a:solidFill>
                <a:latin typeface="Menlo"/>
              </a:defRPr>
            </a:pPr>
            <a:r>
              <a:rPr dirty="0" err="1"/>
              <a:t>даже</a:t>
            </a:r>
            <a:r>
              <a:rPr dirty="0"/>
              <a:t> Apple </a:t>
            </a:r>
            <a:r>
              <a:rPr dirty="0" err="1"/>
              <a:t>в</a:t>
            </a:r>
            <a:r>
              <a:rPr dirty="0"/>
              <a:t> Exposure Notification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смогла</a:t>
            </a:r>
            <a:r>
              <a:rPr dirty="0"/>
              <a:t> </a:t>
            </a:r>
            <a:r>
              <a:rPr dirty="0" err="1"/>
              <a:t>вещать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iPhone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фоне</a:t>
            </a:r>
            <a:r>
              <a:rPr dirty="0"/>
              <a:t> </a:t>
            </a:r>
            <a:r>
              <a:rPr dirty="0" err="1"/>
              <a:t>постоянно</a:t>
            </a:r>
            <a:endParaRPr dirty="0"/>
          </a:p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900">
                <a:solidFill>
                  <a:srgbClr val="FFFFFF"/>
                </a:solidFill>
                <a:latin typeface="Menlo"/>
              </a:defRPr>
            </a:pPr>
            <a:r>
              <a:rPr dirty="0"/>
              <a:t>Web Bluetooth </a:t>
            </a:r>
            <a:r>
              <a:rPr dirty="0" err="1"/>
              <a:t>в</a:t>
            </a:r>
            <a:r>
              <a:rPr dirty="0"/>
              <a:t> Safari </a:t>
            </a:r>
            <a:r>
              <a:rPr dirty="0" err="1"/>
              <a:t>нет</a:t>
            </a:r>
            <a:r>
              <a:rPr dirty="0"/>
              <a:t> — </a:t>
            </a:r>
            <a:r>
              <a:rPr dirty="0" err="1"/>
              <a:t>потому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нужен</a:t>
            </a:r>
            <a:r>
              <a:rPr dirty="0"/>
              <a:t> Capacitor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554480"/>
            <a:ext cx="3931920" cy="2240280"/>
          </a:xfrm>
          <a:prstGeom prst="rect">
            <a:avLst/>
          </a:prstGeom>
          <a:solidFill>
            <a:srgbClr val="071833"/>
          </a:solidFill>
          <a:ln w="9525">
            <a:solidFill>
              <a:srgbClr val="4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0600" y="16276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6FD3F5"/>
                </a:solidFill>
                <a:latin typeface="Menlo"/>
              </a:defRPr>
            </a:pPr>
            <a:r>
              <a:t>ANDROID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1965960"/>
            <a:ext cx="3657600" cy="1089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900">
                <a:solidFill>
                  <a:srgbClr val="FFFFFF"/>
                </a:solidFill>
                <a:latin typeface="Menlo"/>
              </a:defRPr>
            </a:pPr>
            <a:r>
              <a:rPr dirty="0"/>
              <a:t>one-tap — </a:t>
            </a:r>
            <a:r>
              <a:rPr dirty="0" err="1"/>
              <a:t>надёжно</a:t>
            </a:r>
            <a:r>
              <a:rPr dirty="0"/>
              <a:t>; </a:t>
            </a:r>
            <a:r>
              <a:rPr dirty="0" err="1"/>
              <a:t>фон</a:t>
            </a:r>
            <a:r>
              <a:rPr dirty="0"/>
              <a:t> </a:t>
            </a:r>
            <a:r>
              <a:rPr dirty="0" err="1"/>
              <a:t>гибче</a:t>
            </a:r>
            <a:endParaRPr dirty="0"/>
          </a:p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900">
                <a:solidFill>
                  <a:srgbClr val="FFFFFF"/>
                </a:solidFill>
                <a:latin typeface="Menlo"/>
              </a:defRPr>
            </a:pPr>
            <a:r>
              <a:rPr dirty="0" err="1"/>
              <a:t>опция</a:t>
            </a:r>
            <a:r>
              <a:rPr dirty="0"/>
              <a:t>: </a:t>
            </a:r>
            <a:r>
              <a:rPr dirty="0" err="1"/>
              <a:t>PendingIntent-скан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окно</a:t>
            </a:r>
            <a:r>
              <a:rPr dirty="0"/>
              <a:t> </a:t>
            </a:r>
            <a:r>
              <a:rPr dirty="0" err="1"/>
              <a:t>пары</a:t>
            </a:r>
            <a:r>
              <a:rPr dirty="0"/>
              <a:t> (ОС </a:t>
            </a:r>
            <a:r>
              <a:rPr dirty="0" err="1"/>
              <a:t>будит</a:t>
            </a:r>
            <a:r>
              <a:rPr dirty="0"/>
              <a:t> </a:t>
            </a:r>
            <a:r>
              <a:rPr dirty="0" err="1"/>
              <a:t>приложение</a:t>
            </a:r>
            <a:r>
              <a:rPr dirty="0"/>
              <a:t>)</a:t>
            </a:r>
          </a:p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900">
                <a:solidFill>
                  <a:srgbClr val="FFFFFF"/>
                </a:solidFill>
                <a:latin typeface="Menlo"/>
              </a:defRPr>
            </a:pPr>
            <a:r>
              <a:rPr dirty="0" err="1"/>
              <a:t>требует</a:t>
            </a:r>
            <a:r>
              <a:rPr dirty="0"/>
              <a:t> </a:t>
            </a:r>
            <a:r>
              <a:rPr dirty="0" err="1"/>
              <a:t>разрешения</a:t>
            </a:r>
            <a:r>
              <a:rPr dirty="0"/>
              <a:t> «</a:t>
            </a:r>
            <a:r>
              <a:rPr dirty="0" err="1"/>
              <a:t>Устройства</a:t>
            </a:r>
            <a:r>
              <a:rPr dirty="0"/>
              <a:t> </a:t>
            </a:r>
            <a:r>
              <a:rPr dirty="0" err="1"/>
              <a:t>поблизости</a:t>
            </a:r>
            <a:r>
              <a:rPr dirty="0"/>
              <a:t>»</a:t>
            </a:r>
          </a:p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900">
                <a:solidFill>
                  <a:srgbClr val="FFFFFF"/>
                </a:solidFill>
                <a:latin typeface="Menlo"/>
              </a:defRPr>
            </a:pPr>
            <a:r>
              <a:rPr dirty="0" err="1"/>
              <a:t>капризы</a:t>
            </a:r>
            <a:r>
              <a:rPr dirty="0"/>
              <a:t> </a:t>
            </a:r>
            <a:r>
              <a:rPr dirty="0" err="1"/>
              <a:t>экономилки</a:t>
            </a:r>
            <a:r>
              <a:rPr dirty="0"/>
              <a:t> </a:t>
            </a:r>
            <a:r>
              <a:rPr dirty="0" err="1"/>
              <a:t>батареи</a:t>
            </a:r>
            <a:r>
              <a:rPr dirty="0"/>
              <a:t> </a:t>
            </a:r>
            <a:r>
              <a:rPr dirty="0" err="1"/>
              <a:t>у</a:t>
            </a:r>
            <a:r>
              <a:rPr dirty="0"/>
              <a:t> Xiaomi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др</a:t>
            </a:r>
            <a:r>
              <a:rPr dirty="0"/>
              <a:t>. — </a:t>
            </a:r>
            <a:r>
              <a:rPr dirty="0" err="1"/>
              <a:t>учитываем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матрице</a:t>
            </a:r>
            <a:r>
              <a:rPr dirty="0"/>
              <a:t> </a:t>
            </a:r>
            <a:r>
              <a:rPr dirty="0" err="1"/>
              <a:t>пилота</a:t>
            </a:r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548640" y="3931920"/>
            <a:ext cx="3931920" cy="2148840"/>
          </a:xfrm>
          <a:prstGeom prst="rect">
            <a:avLst/>
          </a:prstGeom>
          <a:solidFill>
            <a:srgbClr val="071833"/>
          </a:solidFill>
          <a:ln w="9525">
            <a:solidFill>
              <a:srgbClr val="4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40050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6FD3F5"/>
                </a:solidFill>
                <a:latin typeface="Menlo"/>
              </a:defRPr>
            </a:pPr>
            <a:r>
              <a:t>ЁМКОСТЬ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343400"/>
            <a:ext cx="3657600" cy="753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900">
                <a:solidFill>
                  <a:srgbClr val="FFFFFF"/>
                </a:solidFill>
                <a:latin typeface="Menlo"/>
              </a:defRPr>
            </a:pPr>
            <a:r>
              <a:rPr dirty="0" err="1"/>
              <a:t>сотни</a:t>
            </a:r>
            <a:r>
              <a:rPr dirty="0"/>
              <a:t> </a:t>
            </a:r>
            <a:r>
              <a:rPr dirty="0" err="1"/>
              <a:t>слушателей</a:t>
            </a:r>
            <a:r>
              <a:rPr dirty="0"/>
              <a:t> </a:t>
            </a:r>
            <a:r>
              <a:rPr dirty="0" err="1"/>
              <a:t>одного</a:t>
            </a:r>
            <a:r>
              <a:rPr dirty="0"/>
              <a:t> </a:t>
            </a:r>
            <a:r>
              <a:rPr dirty="0" err="1"/>
              <a:t>маяка</a:t>
            </a:r>
            <a:r>
              <a:rPr dirty="0"/>
              <a:t> —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конфликтов</a:t>
            </a:r>
            <a:endParaRPr dirty="0"/>
          </a:p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900">
                <a:solidFill>
                  <a:srgbClr val="FFFFFF"/>
                </a:solidFill>
                <a:latin typeface="Menlo"/>
              </a:defRPr>
            </a:pPr>
            <a:r>
              <a:rPr dirty="0" err="1"/>
              <a:t>отметки</a:t>
            </a:r>
            <a:r>
              <a:rPr dirty="0"/>
              <a:t>: </a:t>
            </a:r>
            <a:r>
              <a:rPr dirty="0" err="1"/>
              <a:t>короткие</a:t>
            </a:r>
            <a:r>
              <a:rPr dirty="0"/>
              <a:t> </a:t>
            </a:r>
            <a:r>
              <a:rPr dirty="0" err="1"/>
              <a:t>сессии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джиттером</a:t>
            </a:r>
            <a:r>
              <a:rPr dirty="0"/>
              <a:t> → 100–300 </a:t>
            </a:r>
            <a:r>
              <a:rPr dirty="0" err="1"/>
              <a:t>человек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2–5 </a:t>
            </a:r>
            <a:r>
              <a:rPr dirty="0" err="1"/>
              <a:t>минут</a:t>
            </a:r>
            <a:endParaRPr dirty="0"/>
          </a:p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900">
                <a:solidFill>
                  <a:srgbClr val="FFFFFF"/>
                </a:solidFill>
                <a:latin typeface="Menlo"/>
              </a:defRPr>
            </a:pPr>
            <a:r>
              <a:rPr dirty="0"/>
              <a:t>Wi-Fi LAN </a:t>
            </a:r>
            <a:r>
              <a:rPr dirty="0" err="1"/>
              <a:t>ускоряет</a:t>
            </a:r>
            <a:r>
              <a:rPr dirty="0"/>
              <a:t>: </a:t>
            </a:r>
            <a:r>
              <a:rPr dirty="0" err="1"/>
              <a:t>десятки</a:t>
            </a:r>
            <a:r>
              <a:rPr dirty="0"/>
              <a:t> HTTP-</a:t>
            </a:r>
            <a:r>
              <a:rPr dirty="0" err="1"/>
              <a:t>отметок</a:t>
            </a:r>
            <a:r>
              <a:rPr dirty="0"/>
              <a:t>/</a:t>
            </a:r>
            <a:r>
              <a:rPr dirty="0" err="1"/>
              <a:t>сек</a:t>
            </a:r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4663440" y="3931920"/>
            <a:ext cx="3931920" cy="2148840"/>
          </a:xfrm>
          <a:prstGeom prst="rect">
            <a:avLst/>
          </a:prstGeom>
          <a:solidFill>
            <a:srgbClr val="071833"/>
          </a:solidFill>
          <a:ln w="9525">
            <a:solidFill>
              <a:srgbClr val="4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00600" y="40050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6FD3F5"/>
                </a:solidFill>
                <a:latin typeface="Menlo"/>
              </a:defRPr>
            </a:pPr>
            <a:r>
              <a:t>КАВЕРЗНЫЕ МОМЕНТЫ → РЕШЕНИЯ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4343400"/>
            <a:ext cx="3657600" cy="11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850">
                <a:latin typeface="Menlo"/>
              </a:defRPr>
            </a:pPr>
            <a:r>
              <a:rPr sz="850" b="1" dirty="0" err="1">
                <a:solidFill>
                  <a:srgbClr val="6FD3F5"/>
                </a:solidFill>
                <a:latin typeface="Menlo"/>
              </a:rPr>
              <a:t>толпа</a:t>
            </a:r>
            <a:r>
              <a:rPr sz="850" b="1" dirty="0">
                <a:solidFill>
                  <a:srgbClr val="6FD3F5"/>
                </a:solidFill>
                <a:latin typeface="Menlo"/>
              </a:rPr>
              <a:t> </a:t>
            </a:r>
            <a:r>
              <a:rPr sz="850" b="1" dirty="0" err="1">
                <a:solidFill>
                  <a:srgbClr val="6FD3F5"/>
                </a:solidFill>
                <a:latin typeface="Menlo"/>
              </a:rPr>
              <a:t>ломится</a:t>
            </a:r>
            <a:r>
              <a:rPr sz="850" b="1" dirty="0">
                <a:solidFill>
                  <a:srgbClr val="6FD3F5"/>
                </a:solidFill>
                <a:latin typeface="Menlo"/>
              </a:rPr>
              <a:t> </a:t>
            </a:r>
            <a:r>
              <a:rPr sz="850" b="1" dirty="0" err="1">
                <a:solidFill>
                  <a:srgbClr val="6FD3F5"/>
                </a:solidFill>
                <a:latin typeface="Menlo"/>
              </a:rPr>
              <a:t>сразу</a:t>
            </a:r>
            <a:r>
              <a:rPr sz="850" b="1" dirty="0">
                <a:solidFill>
                  <a:srgbClr val="6FD3F5"/>
                </a:solidFill>
                <a:latin typeface="Menlo"/>
              </a:rPr>
              <a:t> </a:t>
            </a:r>
            <a:r>
              <a:rPr sz="850" dirty="0">
                <a:solidFill>
                  <a:srgbClr val="FFFFFF"/>
                </a:solidFill>
                <a:latin typeface="Menlo"/>
              </a:rPr>
              <a:t>→ </a:t>
            </a:r>
            <a:r>
              <a:rPr sz="850" dirty="0" err="1">
                <a:solidFill>
                  <a:srgbClr val="FFFFFF"/>
                </a:solidFill>
                <a:latin typeface="Menlo"/>
              </a:rPr>
              <a:t>случайные</a:t>
            </a:r>
            <a:r>
              <a:rPr sz="850" dirty="0">
                <a:solidFill>
                  <a:srgbClr val="FFFFFF"/>
                </a:solidFill>
                <a:latin typeface="Menlo"/>
              </a:rPr>
              <a:t> </a:t>
            </a:r>
            <a:r>
              <a:rPr sz="850" dirty="0" err="1">
                <a:solidFill>
                  <a:srgbClr val="FFFFFF"/>
                </a:solidFill>
                <a:latin typeface="Menlo"/>
              </a:rPr>
              <a:t>паузы</a:t>
            </a:r>
            <a:r>
              <a:rPr sz="850" dirty="0">
                <a:solidFill>
                  <a:srgbClr val="FFFFFF"/>
                </a:solidFill>
                <a:latin typeface="Menlo"/>
              </a:rPr>
              <a:t> (</a:t>
            </a:r>
            <a:r>
              <a:rPr sz="850" dirty="0" err="1">
                <a:solidFill>
                  <a:srgbClr val="FFFFFF"/>
                </a:solidFill>
                <a:latin typeface="Menlo"/>
              </a:rPr>
              <a:t>джиттер</a:t>
            </a:r>
            <a:r>
              <a:rPr sz="850" dirty="0">
                <a:solidFill>
                  <a:srgbClr val="FFFFFF"/>
                </a:solidFill>
                <a:latin typeface="Menlo"/>
              </a:rPr>
              <a:t>) + </a:t>
            </a:r>
            <a:r>
              <a:rPr sz="850" dirty="0" err="1">
                <a:solidFill>
                  <a:srgbClr val="FFFFFF"/>
                </a:solidFill>
                <a:latin typeface="Menlo"/>
              </a:rPr>
              <a:t>повтор</a:t>
            </a:r>
            <a:r>
              <a:rPr sz="850" dirty="0">
                <a:solidFill>
                  <a:srgbClr val="FFFFFF"/>
                </a:solidFill>
                <a:latin typeface="Menlo"/>
              </a:rPr>
              <a:t> </a:t>
            </a:r>
            <a:r>
              <a:rPr sz="850" dirty="0" err="1">
                <a:solidFill>
                  <a:srgbClr val="FFFFFF"/>
                </a:solidFill>
                <a:latin typeface="Menlo"/>
              </a:rPr>
              <a:t>с</a:t>
            </a:r>
            <a:r>
              <a:rPr sz="850" dirty="0">
                <a:solidFill>
                  <a:srgbClr val="FFFFFF"/>
                </a:solidFill>
                <a:latin typeface="Menlo"/>
              </a:rPr>
              <a:t> </a:t>
            </a:r>
            <a:r>
              <a:rPr sz="850" dirty="0" err="1">
                <a:solidFill>
                  <a:srgbClr val="FFFFFF"/>
                </a:solidFill>
                <a:latin typeface="Menlo"/>
              </a:rPr>
              <a:t>нарастающим</a:t>
            </a:r>
            <a:r>
              <a:rPr sz="850" dirty="0">
                <a:solidFill>
                  <a:srgbClr val="FFFFFF"/>
                </a:solidFill>
                <a:latin typeface="Menlo"/>
              </a:rPr>
              <a:t> </a:t>
            </a:r>
            <a:r>
              <a:rPr sz="850" dirty="0" err="1">
                <a:solidFill>
                  <a:srgbClr val="FFFFFF"/>
                </a:solidFill>
                <a:latin typeface="Menlo"/>
              </a:rPr>
              <a:t>ожиданием</a:t>
            </a:r>
            <a:endParaRPr sz="850" dirty="0">
              <a:solidFill>
                <a:srgbClr val="FFFFFF"/>
              </a:solidFill>
              <a:latin typeface="Menlo"/>
            </a:endParaRPr>
          </a:p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850">
                <a:latin typeface="Menlo"/>
              </a:defRPr>
            </a:pPr>
            <a:r>
              <a:rPr sz="850" b="1" dirty="0" err="1">
                <a:solidFill>
                  <a:srgbClr val="6FD3F5"/>
                </a:solidFill>
                <a:latin typeface="Menlo"/>
              </a:rPr>
              <a:t>карман</a:t>
            </a:r>
            <a:r>
              <a:rPr sz="850" b="1" dirty="0">
                <a:solidFill>
                  <a:srgbClr val="6FD3F5"/>
                </a:solidFill>
                <a:latin typeface="Menlo"/>
              </a:rPr>
              <a:t> / </a:t>
            </a:r>
            <a:r>
              <a:rPr sz="850" b="1" dirty="0" err="1">
                <a:solidFill>
                  <a:srgbClr val="6FD3F5"/>
                </a:solidFill>
                <a:latin typeface="Menlo"/>
              </a:rPr>
              <a:t>стена</a:t>
            </a:r>
            <a:r>
              <a:rPr sz="850" b="1" dirty="0">
                <a:solidFill>
                  <a:srgbClr val="6FD3F5"/>
                </a:solidFill>
                <a:latin typeface="Menlo"/>
              </a:rPr>
              <a:t> </a:t>
            </a:r>
            <a:r>
              <a:rPr sz="850" dirty="0">
                <a:solidFill>
                  <a:srgbClr val="FFFFFF"/>
                </a:solidFill>
                <a:latin typeface="Menlo"/>
              </a:rPr>
              <a:t>→ </a:t>
            </a:r>
            <a:r>
              <a:rPr sz="850" dirty="0" err="1">
                <a:solidFill>
                  <a:srgbClr val="FFFFFF"/>
                </a:solidFill>
                <a:latin typeface="Menlo"/>
              </a:rPr>
              <a:t>маяк</a:t>
            </a:r>
            <a:r>
              <a:rPr sz="850" dirty="0">
                <a:solidFill>
                  <a:srgbClr val="FFFFFF"/>
                </a:solidFill>
                <a:latin typeface="Menlo"/>
              </a:rPr>
              <a:t> </a:t>
            </a:r>
            <a:r>
              <a:rPr sz="850" dirty="0" err="1">
                <a:solidFill>
                  <a:srgbClr val="FFFFFF"/>
                </a:solidFill>
                <a:latin typeface="Menlo"/>
              </a:rPr>
              <a:t>повторяется</a:t>
            </a:r>
            <a:r>
              <a:rPr sz="850" dirty="0">
                <a:solidFill>
                  <a:srgbClr val="FFFFFF"/>
                </a:solidFill>
                <a:latin typeface="Menlo"/>
              </a:rPr>
              <a:t> </a:t>
            </a:r>
            <a:r>
              <a:rPr sz="850" dirty="0" err="1">
                <a:solidFill>
                  <a:srgbClr val="FFFFFF"/>
                </a:solidFill>
                <a:latin typeface="Menlo"/>
              </a:rPr>
              <a:t>ежесекундно</a:t>
            </a:r>
            <a:r>
              <a:rPr sz="850" dirty="0">
                <a:solidFill>
                  <a:srgbClr val="FFFFFF"/>
                </a:solidFill>
                <a:latin typeface="Menlo"/>
              </a:rPr>
              <a:t> — </a:t>
            </a:r>
            <a:r>
              <a:rPr sz="850" dirty="0" err="1">
                <a:solidFill>
                  <a:srgbClr val="FFFFFF"/>
                </a:solidFill>
                <a:latin typeface="Menlo"/>
              </a:rPr>
              <a:t>хватит</a:t>
            </a:r>
            <a:r>
              <a:rPr sz="850" dirty="0">
                <a:solidFill>
                  <a:srgbClr val="FFFFFF"/>
                </a:solidFill>
                <a:latin typeface="Menlo"/>
              </a:rPr>
              <a:t> </a:t>
            </a:r>
            <a:r>
              <a:rPr sz="850" dirty="0" err="1">
                <a:solidFill>
                  <a:srgbClr val="FFFFFF"/>
                </a:solidFill>
                <a:latin typeface="Menlo"/>
              </a:rPr>
              <a:t>одного</a:t>
            </a:r>
            <a:r>
              <a:rPr sz="850" dirty="0">
                <a:solidFill>
                  <a:srgbClr val="FFFFFF"/>
                </a:solidFill>
                <a:latin typeface="Menlo"/>
              </a:rPr>
              <a:t> </a:t>
            </a:r>
            <a:r>
              <a:rPr sz="850" dirty="0" err="1">
                <a:solidFill>
                  <a:srgbClr val="FFFFFF"/>
                </a:solidFill>
                <a:latin typeface="Menlo"/>
              </a:rPr>
              <a:t>пакета</a:t>
            </a:r>
            <a:endParaRPr sz="850" dirty="0">
              <a:solidFill>
                <a:srgbClr val="FFFFFF"/>
              </a:solidFill>
              <a:latin typeface="Menlo"/>
            </a:endParaRPr>
          </a:p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850">
                <a:latin typeface="Menlo"/>
              </a:defRPr>
            </a:pPr>
            <a:r>
              <a:rPr sz="850" b="1" dirty="0" err="1">
                <a:solidFill>
                  <a:srgbClr val="6FD3F5"/>
                </a:solidFill>
                <a:latin typeface="Menlo"/>
              </a:rPr>
              <a:t>две</a:t>
            </a:r>
            <a:r>
              <a:rPr sz="850" b="1" dirty="0">
                <a:solidFill>
                  <a:srgbClr val="6FD3F5"/>
                </a:solidFill>
                <a:latin typeface="Menlo"/>
              </a:rPr>
              <a:t> </a:t>
            </a:r>
            <a:r>
              <a:rPr sz="850" b="1" dirty="0" err="1">
                <a:solidFill>
                  <a:srgbClr val="6FD3F5"/>
                </a:solidFill>
                <a:latin typeface="Menlo"/>
              </a:rPr>
              <a:t>пары</a:t>
            </a:r>
            <a:r>
              <a:rPr sz="850" b="1" dirty="0">
                <a:solidFill>
                  <a:srgbClr val="6FD3F5"/>
                </a:solidFill>
                <a:latin typeface="Menlo"/>
              </a:rPr>
              <a:t> </a:t>
            </a:r>
            <a:r>
              <a:rPr sz="850" b="1" dirty="0" err="1">
                <a:solidFill>
                  <a:srgbClr val="6FD3F5"/>
                </a:solidFill>
                <a:latin typeface="Menlo"/>
              </a:rPr>
              <a:t>рядом</a:t>
            </a:r>
            <a:r>
              <a:rPr sz="850" b="1" dirty="0">
                <a:solidFill>
                  <a:srgbClr val="6FD3F5"/>
                </a:solidFill>
                <a:latin typeface="Menlo"/>
              </a:rPr>
              <a:t> </a:t>
            </a:r>
            <a:r>
              <a:rPr sz="850" dirty="0">
                <a:solidFill>
                  <a:srgbClr val="FFFFFF"/>
                </a:solidFill>
                <a:latin typeface="Menlo"/>
              </a:rPr>
              <a:t>→ </a:t>
            </a:r>
            <a:r>
              <a:rPr sz="850" dirty="0" err="1">
                <a:solidFill>
                  <a:srgbClr val="FFFFFF"/>
                </a:solidFill>
                <a:latin typeface="Menlo"/>
              </a:rPr>
              <a:t>скан</a:t>
            </a:r>
            <a:r>
              <a:rPr sz="850" dirty="0">
                <a:solidFill>
                  <a:srgbClr val="FFFFFF"/>
                </a:solidFill>
                <a:latin typeface="Menlo"/>
              </a:rPr>
              <a:t> </a:t>
            </a:r>
            <a:r>
              <a:rPr sz="850" dirty="0" err="1">
                <a:solidFill>
                  <a:srgbClr val="FFFFFF"/>
                </a:solidFill>
                <a:latin typeface="Menlo"/>
              </a:rPr>
              <a:t>фильтруется</a:t>
            </a:r>
            <a:r>
              <a:rPr sz="850" dirty="0">
                <a:solidFill>
                  <a:srgbClr val="FFFFFF"/>
                </a:solidFill>
                <a:latin typeface="Menlo"/>
              </a:rPr>
              <a:t> </a:t>
            </a:r>
            <a:r>
              <a:rPr sz="850" dirty="0" err="1">
                <a:solidFill>
                  <a:srgbClr val="FFFFFF"/>
                </a:solidFill>
                <a:latin typeface="Menlo"/>
              </a:rPr>
              <a:t>по</a:t>
            </a:r>
            <a:r>
              <a:rPr sz="850" dirty="0">
                <a:solidFill>
                  <a:srgbClr val="FFFFFF"/>
                </a:solidFill>
                <a:latin typeface="Menlo"/>
              </a:rPr>
              <a:t> </a:t>
            </a:r>
            <a:r>
              <a:rPr sz="850" dirty="0" err="1">
                <a:solidFill>
                  <a:srgbClr val="FFFFFF"/>
                </a:solidFill>
                <a:latin typeface="Menlo"/>
              </a:rPr>
              <a:t>session_handle</a:t>
            </a:r>
            <a:r>
              <a:rPr sz="850" dirty="0">
                <a:solidFill>
                  <a:srgbClr val="FFFFFF"/>
                </a:solidFill>
                <a:latin typeface="Menlo"/>
              </a:rPr>
              <a:t>, </a:t>
            </a:r>
            <a:r>
              <a:rPr sz="850" dirty="0" err="1">
                <a:solidFill>
                  <a:srgbClr val="FFFFFF"/>
                </a:solidFill>
                <a:latin typeface="Menlo"/>
              </a:rPr>
              <a:t>чужой</a:t>
            </a:r>
            <a:r>
              <a:rPr sz="850" dirty="0">
                <a:solidFill>
                  <a:srgbClr val="FFFFFF"/>
                </a:solidFill>
                <a:latin typeface="Menlo"/>
              </a:rPr>
              <a:t> </a:t>
            </a:r>
            <a:r>
              <a:rPr sz="850" dirty="0" err="1">
                <a:solidFill>
                  <a:srgbClr val="FFFFFF"/>
                </a:solidFill>
                <a:latin typeface="Menlo"/>
              </a:rPr>
              <a:t>маяк</a:t>
            </a:r>
            <a:r>
              <a:rPr sz="850" dirty="0">
                <a:solidFill>
                  <a:srgbClr val="FFFFFF"/>
                </a:solidFill>
                <a:latin typeface="Menlo"/>
              </a:rPr>
              <a:t> </a:t>
            </a:r>
            <a:r>
              <a:rPr sz="850" dirty="0" err="1">
                <a:solidFill>
                  <a:srgbClr val="FFFFFF"/>
                </a:solidFill>
                <a:latin typeface="Menlo"/>
              </a:rPr>
              <a:t>игнорируется</a:t>
            </a:r>
            <a:endParaRPr sz="850" dirty="0">
              <a:solidFill>
                <a:srgbClr val="FFFFFF"/>
              </a:solidFill>
              <a:latin typeface="Menlo"/>
            </a:endParaRPr>
          </a:p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850">
                <a:latin typeface="Menlo"/>
              </a:defRPr>
            </a:pPr>
            <a:r>
              <a:rPr sz="850" b="1" dirty="0" err="1">
                <a:solidFill>
                  <a:srgbClr val="6FD3F5"/>
                </a:solidFill>
                <a:latin typeface="Menlo"/>
              </a:rPr>
              <a:t>батарея</a:t>
            </a:r>
            <a:r>
              <a:rPr sz="850" b="1" dirty="0">
                <a:solidFill>
                  <a:srgbClr val="6FD3F5"/>
                </a:solidFill>
                <a:latin typeface="Menlo"/>
              </a:rPr>
              <a:t> </a:t>
            </a:r>
            <a:r>
              <a:rPr sz="850" dirty="0">
                <a:solidFill>
                  <a:srgbClr val="FFFFFF"/>
                </a:solidFill>
                <a:latin typeface="Menlo"/>
              </a:rPr>
              <a:t>→ </a:t>
            </a:r>
            <a:r>
              <a:rPr sz="850" dirty="0" err="1">
                <a:solidFill>
                  <a:srgbClr val="FFFFFF"/>
                </a:solidFill>
                <a:latin typeface="Menlo"/>
              </a:rPr>
              <a:t>радио</a:t>
            </a:r>
            <a:r>
              <a:rPr sz="850" dirty="0">
                <a:solidFill>
                  <a:srgbClr val="FFFFFF"/>
                </a:solidFill>
                <a:latin typeface="Menlo"/>
              </a:rPr>
              <a:t> </a:t>
            </a:r>
            <a:r>
              <a:rPr sz="850" dirty="0" err="1">
                <a:solidFill>
                  <a:srgbClr val="FFFFFF"/>
                </a:solidFill>
                <a:latin typeface="Menlo"/>
              </a:rPr>
              <a:t>включено</a:t>
            </a:r>
            <a:r>
              <a:rPr sz="850" dirty="0">
                <a:solidFill>
                  <a:srgbClr val="FFFFFF"/>
                </a:solidFill>
                <a:latin typeface="Menlo"/>
              </a:rPr>
              <a:t> </a:t>
            </a:r>
            <a:r>
              <a:rPr sz="850" dirty="0" err="1">
                <a:solidFill>
                  <a:srgbClr val="FFFFFF"/>
                </a:solidFill>
                <a:latin typeface="Menlo"/>
              </a:rPr>
              <a:t>лишь</a:t>
            </a:r>
            <a:r>
              <a:rPr sz="850" dirty="0">
                <a:solidFill>
                  <a:srgbClr val="FFFFFF"/>
                </a:solidFill>
                <a:latin typeface="Menlo"/>
              </a:rPr>
              <a:t> 10–30 </a:t>
            </a:r>
            <a:r>
              <a:rPr sz="850" dirty="0" err="1">
                <a:solidFill>
                  <a:srgbClr val="FFFFFF"/>
                </a:solidFill>
                <a:latin typeface="Menlo"/>
              </a:rPr>
              <a:t>сек</a:t>
            </a:r>
            <a:r>
              <a:rPr sz="850" dirty="0">
                <a:solidFill>
                  <a:srgbClr val="FFFFFF"/>
                </a:solidFill>
                <a:latin typeface="Menlo"/>
              </a:rPr>
              <a:t> </a:t>
            </a:r>
            <a:r>
              <a:rPr sz="850" dirty="0" err="1">
                <a:solidFill>
                  <a:srgbClr val="FFFFFF"/>
                </a:solidFill>
                <a:latin typeface="Menlo"/>
              </a:rPr>
              <a:t>на</a:t>
            </a:r>
            <a:r>
              <a:rPr sz="850" dirty="0">
                <a:solidFill>
                  <a:srgbClr val="FFFFFF"/>
                </a:solidFill>
                <a:latin typeface="Menlo"/>
              </a:rPr>
              <a:t> </a:t>
            </a:r>
            <a:r>
              <a:rPr sz="850" dirty="0" err="1">
                <a:solidFill>
                  <a:srgbClr val="FFFFFF"/>
                </a:solidFill>
                <a:latin typeface="Menlo"/>
              </a:rPr>
              <a:t>отметку</a:t>
            </a:r>
            <a:endParaRPr sz="850" dirty="0">
              <a:solidFill>
                <a:srgbClr val="FFFFFF"/>
              </a:solidFill>
              <a:latin typeface="Menlo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A7E70440-A9D7-4D5D-5272-09F9BE9892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29" t="6638" r="9308" b="6818"/>
          <a:stretch>
            <a:fillRect/>
          </a:stretch>
        </p:blipFill>
        <p:spPr>
          <a:xfrm>
            <a:off x="8356762" y="73296"/>
            <a:ext cx="729049" cy="8351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9900"/>
            <a:ext cx="9144000" cy="38100"/>
          </a:xfrm>
          <a:prstGeom prst="rect">
            <a:avLst/>
          </a:prstGeom>
          <a:solidFill>
            <a:srgbClr val="1E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1">
                <a:solidFill>
                  <a:srgbClr val="4D9BFF"/>
                </a:solidFill>
                <a:latin typeface="Menlo"/>
              </a:defRPr>
            </a:pPr>
            <a:r>
              <a:t>ФЛОУ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600" b="1">
                <a:solidFill>
                  <a:srgbClr val="FFFFFF"/>
                </a:solidFill>
                <a:latin typeface="Menlo"/>
              </a:defRPr>
            </a:pPr>
            <a:r>
              <a:t>ОТМЕТКА СТУДЕНТА ЗА 7 ШАГОВ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9BE7FF"/>
                </a:solidFill>
                <a:latin typeface="Menlo"/>
              </a:defRPr>
            </a:pPr>
            <a:r>
              <a:t>Полностью офлайн: ни Интернета, ни QR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8046720" cy="19050"/>
          </a:xfrm>
          <a:prstGeom prst="rect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394960" cy="475488"/>
          </a:xfrm>
          <a:prstGeom prst="rect">
            <a:avLst/>
          </a:prstGeom>
          <a:solidFill>
            <a:srgbClr val="0A2244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216" y="1627632"/>
            <a:ext cx="53218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900" b="0">
                <a:solidFill>
                  <a:srgbClr val="FFFFFF"/>
                </a:solidFill>
                <a:latin typeface="Menlo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6916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4D9BFF"/>
                </a:solidFill>
                <a:latin typeface="Menlo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6916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FFFFFF"/>
                </a:solidFill>
                <a:latin typeface="Menlo"/>
              </a:defRPr>
            </a:pPr>
            <a:r>
              <a:t>Студент открывает приложение (или тапает напоминание)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3154680" y="2084832"/>
            <a:ext cx="109728" cy="128016"/>
          </a:xfrm>
          <a:prstGeom prst="downArrow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2231136"/>
            <a:ext cx="5394960" cy="475488"/>
          </a:xfrm>
          <a:prstGeom prst="rect">
            <a:avLst/>
          </a:prstGeom>
          <a:solidFill>
            <a:srgbClr val="0A2244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2258568"/>
            <a:ext cx="53218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900" b="0">
                <a:solidFill>
                  <a:srgbClr val="FFFFFF"/>
                </a:solidFill>
                <a:latin typeface="Menlo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232257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4D9BFF"/>
                </a:solidFill>
                <a:latin typeface="Menlo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32257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FFFFFF"/>
                </a:solidFill>
                <a:latin typeface="Menlo"/>
              </a:defRPr>
            </a:pPr>
            <a:r>
              <a:t>Скан ~2–5 с  →  «Пара «Алгоритмы», ауд. 312»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154680" y="2715768"/>
            <a:ext cx="109728" cy="128016"/>
          </a:xfrm>
          <a:prstGeom prst="downArrow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2862072"/>
            <a:ext cx="5394960" cy="475488"/>
          </a:xfrm>
          <a:prstGeom prst="rect">
            <a:avLst/>
          </a:prstGeom>
          <a:solidFill>
            <a:srgbClr val="0A2244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5216" y="2889503"/>
            <a:ext cx="53218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900" b="0">
                <a:solidFill>
                  <a:srgbClr val="FFFFFF"/>
                </a:solidFill>
                <a:latin typeface="Menlo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2953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4D9BFF"/>
                </a:solidFill>
                <a:latin typeface="Menlo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295351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FFFFFF"/>
                </a:solidFill>
                <a:latin typeface="Menlo"/>
              </a:defRPr>
            </a:pPr>
            <a:r>
              <a:t>Тап «Отметиться»  →  GATT-подключение (джиттер при толпе)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3154680" y="3346704"/>
            <a:ext cx="109728" cy="128016"/>
          </a:xfrm>
          <a:prstGeom prst="downArrow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3493008"/>
            <a:ext cx="5394960" cy="475488"/>
          </a:xfrm>
          <a:prstGeom prst="rect">
            <a:avLst/>
          </a:prstGeom>
          <a:solidFill>
            <a:srgbClr val="0A2244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5216" y="3520439"/>
            <a:ext cx="53218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900" b="0">
                <a:solidFill>
                  <a:srgbClr val="FFFFFF"/>
                </a:solidFill>
                <a:latin typeface="Menlo"/>
              </a:defRPr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" y="358444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4D9BFF"/>
                </a:solidFill>
                <a:latin typeface="Menlo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358444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FFFFFF"/>
                </a:solidFill>
                <a:latin typeface="Menlo"/>
              </a:defRPr>
            </a:pPr>
            <a:r>
              <a:t>Читает якорь, проверяет подпись хаба и свой credential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3154680" y="3977639"/>
            <a:ext cx="109728" cy="128016"/>
          </a:xfrm>
          <a:prstGeom prst="downArrow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4123944"/>
            <a:ext cx="5394960" cy="475488"/>
          </a:xfrm>
          <a:prstGeom prst="rect">
            <a:avLst/>
          </a:prstGeom>
          <a:solidFill>
            <a:srgbClr val="0A2244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5216" y="4151376"/>
            <a:ext cx="53218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900" b="0">
                <a:solidFill>
                  <a:srgbClr val="FFFFFF"/>
                </a:solidFill>
                <a:latin typeface="Menlo"/>
              </a:defRPr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3232" y="4215383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4D9BFF"/>
                </a:solidFill>
                <a:latin typeface="Menlo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215383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FFFFFF"/>
                </a:solidFill>
                <a:latin typeface="Menlo"/>
              </a:defRPr>
            </a:pPr>
            <a:r>
              <a:t>Создаёт Mark в своей Giper Baza, подписывает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3154680" y="4608576"/>
            <a:ext cx="109728" cy="128016"/>
          </a:xfrm>
          <a:prstGeom prst="downArrow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48640" y="4754879"/>
            <a:ext cx="5394960" cy="475488"/>
          </a:xfrm>
          <a:prstGeom prst="rect">
            <a:avLst/>
          </a:prstGeom>
          <a:solidFill>
            <a:srgbClr val="0A2244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85216" y="4782312"/>
            <a:ext cx="53218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900" b="0">
                <a:solidFill>
                  <a:srgbClr val="FFFFFF"/>
                </a:solidFill>
                <a:latin typeface="Menlo"/>
              </a:defRPr>
            </a:pPr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3232" y="484631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4D9BFF"/>
                </a:solidFill>
                <a:latin typeface="Menlo"/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4846319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FFFFFF"/>
                </a:solidFill>
                <a:latin typeface="Menlo"/>
              </a:defRPr>
            </a:pPr>
            <a:r>
              <a:t>Пишет в характеристику; хаб проверяет подпись и допуск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3154680" y="5239512"/>
            <a:ext cx="109728" cy="128016"/>
          </a:xfrm>
          <a:prstGeom prst="downArrow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48640" y="5385815"/>
            <a:ext cx="5394960" cy="475488"/>
          </a:xfrm>
          <a:prstGeom prst="rect">
            <a:avLst/>
          </a:prstGeom>
          <a:solidFill>
            <a:srgbClr val="0A2244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85216" y="5413247"/>
            <a:ext cx="53218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900" b="0">
                <a:solidFill>
                  <a:srgbClr val="FFFFFF"/>
                </a:solidFill>
                <a:latin typeface="Menlo"/>
              </a:defRPr>
            </a:pPr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13232" y="5477255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4D9BFF"/>
                </a:solidFill>
                <a:latin typeface="Menlo"/>
              </a:defRPr>
            </a:pPr>
            <a: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5477255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FFFFFF"/>
                </a:solidFill>
                <a:latin typeface="Menlo"/>
              </a:defRPr>
            </a:pPr>
            <a:r>
              <a:t>Receipt назад → «✓ Принято преподавателем» → disconnect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1691640"/>
            <a:ext cx="2377440" cy="2123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950">
                <a:latin typeface="Menlo"/>
              </a:defRPr>
            </a:pPr>
            <a:r>
              <a:rPr sz="950" b="1" dirty="0">
                <a:solidFill>
                  <a:srgbClr val="6FD3F5"/>
                </a:solidFill>
                <a:latin typeface="Menlo"/>
              </a:rPr>
              <a:t>UI-</a:t>
            </a:r>
            <a:r>
              <a:rPr sz="950" b="1" dirty="0" err="1">
                <a:solidFill>
                  <a:srgbClr val="6FD3F5"/>
                </a:solidFill>
                <a:latin typeface="Menlo"/>
              </a:rPr>
              <a:t>инвариант</a:t>
            </a:r>
            <a:r>
              <a:rPr sz="950" b="1" dirty="0">
                <a:solidFill>
                  <a:srgbClr val="6FD3F5"/>
                </a:solidFill>
                <a:latin typeface="Menlo"/>
              </a:rPr>
              <a:t>: </a:t>
            </a:r>
            <a:r>
              <a:rPr sz="950" dirty="0">
                <a:solidFill>
                  <a:srgbClr val="FFFFFF"/>
                </a:solidFill>
                <a:latin typeface="Menlo"/>
              </a:rPr>
              <a:t>«</a:t>
            </a:r>
            <a:r>
              <a:rPr sz="950" dirty="0" err="1">
                <a:solidFill>
                  <a:srgbClr val="FFFFFF"/>
                </a:solidFill>
                <a:latin typeface="Menlo"/>
              </a:rPr>
              <a:t>найдено</a:t>
            </a:r>
            <a:r>
              <a:rPr sz="950" dirty="0">
                <a:solidFill>
                  <a:srgbClr val="FFFFFF"/>
                </a:solidFill>
                <a:latin typeface="Menlo"/>
              </a:rPr>
              <a:t>» → «</a:t>
            </a:r>
            <a:r>
              <a:rPr sz="950" dirty="0" err="1">
                <a:solidFill>
                  <a:srgbClr val="FFFFFF"/>
                </a:solidFill>
                <a:latin typeface="Menlo"/>
              </a:rPr>
              <a:t>сохранено</a:t>
            </a:r>
            <a:r>
              <a:rPr sz="950" dirty="0">
                <a:solidFill>
                  <a:srgbClr val="FFFFFF"/>
                </a:solidFill>
                <a:latin typeface="Menlo"/>
              </a:rPr>
              <a:t> </a:t>
            </a:r>
            <a:r>
              <a:rPr sz="950" dirty="0" err="1">
                <a:solidFill>
                  <a:srgbClr val="FFFFFF"/>
                </a:solidFill>
                <a:latin typeface="Menlo"/>
              </a:rPr>
              <a:t>локально</a:t>
            </a:r>
            <a:r>
              <a:rPr sz="950" dirty="0">
                <a:solidFill>
                  <a:srgbClr val="FFFFFF"/>
                </a:solidFill>
                <a:latin typeface="Menlo"/>
              </a:rPr>
              <a:t>» → «</a:t>
            </a:r>
            <a:r>
              <a:rPr sz="950" dirty="0" err="1">
                <a:solidFill>
                  <a:srgbClr val="FFFFFF"/>
                </a:solidFill>
                <a:latin typeface="Menlo"/>
              </a:rPr>
              <a:t>принято</a:t>
            </a:r>
            <a:r>
              <a:rPr sz="950" dirty="0">
                <a:solidFill>
                  <a:srgbClr val="FFFFFF"/>
                </a:solidFill>
                <a:latin typeface="Menlo"/>
              </a:rPr>
              <a:t> </a:t>
            </a:r>
            <a:r>
              <a:rPr sz="950" dirty="0" err="1">
                <a:solidFill>
                  <a:srgbClr val="FFFFFF"/>
                </a:solidFill>
                <a:latin typeface="Menlo"/>
              </a:rPr>
              <a:t>хабом</a:t>
            </a:r>
            <a:r>
              <a:rPr sz="950" dirty="0">
                <a:solidFill>
                  <a:srgbClr val="FFFFFF"/>
                </a:solidFill>
                <a:latin typeface="Menlo"/>
              </a:rPr>
              <a:t>». </a:t>
            </a:r>
            <a:r>
              <a:rPr sz="950" dirty="0" err="1">
                <a:solidFill>
                  <a:srgbClr val="FFFFFF"/>
                </a:solidFill>
                <a:latin typeface="Menlo"/>
              </a:rPr>
              <a:t>Галочка</a:t>
            </a:r>
            <a:r>
              <a:rPr sz="950" dirty="0">
                <a:solidFill>
                  <a:srgbClr val="FFFFFF"/>
                </a:solidFill>
                <a:latin typeface="Menlo"/>
              </a:rPr>
              <a:t> — </a:t>
            </a:r>
            <a:r>
              <a:rPr sz="950" dirty="0" err="1">
                <a:solidFill>
                  <a:srgbClr val="FFFFFF"/>
                </a:solidFill>
                <a:latin typeface="Menlo"/>
              </a:rPr>
              <a:t>только</a:t>
            </a:r>
            <a:r>
              <a:rPr sz="950" dirty="0">
                <a:solidFill>
                  <a:srgbClr val="FFFFFF"/>
                </a:solidFill>
                <a:latin typeface="Menlo"/>
              </a:rPr>
              <a:t> </a:t>
            </a:r>
            <a:r>
              <a:rPr sz="950" dirty="0" err="1">
                <a:solidFill>
                  <a:srgbClr val="FFFFFF"/>
                </a:solidFill>
                <a:latin typeface="Menlo"/>
              </a:rPr>
              <a:t>после</a:t>
            </a:r>
            <a:r>
              <a:rPr sz="950" dirty="0">
                <a:solidFill>
                  <a:srgbClr val="FFFFFF"/>
                </a:solidFill>
                <a:latin typeface="Menlo"/>
              </a:rPr>
              <a:t> Receipt</a:t>
            </a:r>
          </a:p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950">
                <a:latin typeface="Menlo"/>
              </a:defRPr>
            </a:pPr>
            <a:r>
              <a:rPr sz="950" b="1" dirty="0" err="1">
                <a:solidFill>
                  <a:srgbClr val="6FD3F5"/>
                </a:solidFill>
                <a:latin typeface="Menlo"/>
              </a:rPr>
              <a:t>Опоздавшие</a:t>
            </a:r>
            <a:r>
              <a:rPr sz="950" b="1" dirty="0">
                <a:solidFill>
                  <a:srgbClr val="6FD3F5"/>
                </a:solidFill>
                <a:latin typeface="Menlo"/>
              </a:rPr>
              <a:t>: </a:t>
            </a:r>
            <a:r>
              <a:rPr sz="950" dirty="0" err="1">
                <a:solidFill>
                  <a:srgbClr val="FFFFFF"/>
                </a:solidFill>
                <a:latin typeface="Menlo"/>
              </a:rPr>
              <a:t>та</a:t>
            </a:r>
            <a:r>
              <a:rPr sz="950" dirty="0">
                <a:solidFill>
                  <a:srgbClr val="FFFFFF"/>
                </a:solidFill>
                <a:latin typeface="Menlo"/>
              </a:rPr>
              <a:t> </a:t>
            </a:r>
            <a:r>
              <a:rPr sz="950" dirty="0" err="1">
                <a:solidFill>
                  <a:srgbClr val="FFFFFF"/>
                </a:solidFill>
                <a:latin typeface="Menlo"/>
              </a:rPr>
              <a:t>же</a:t>
            </a:r>
            <a:r>
              <a:rPr sz="950" dirty="0">
                <a:solidFill>
                  <a:srgbClr val="FFFFFF"/>
                </a:solidFill>
                <a:latin typeface="Menlo"/>
              </a:rPr>
              <a:t> </a:t>
            </a:r>
            <a:r>
              <a:rPr sz="950" dirty="0" err="1">
                <a:solidFill>
                  <a:srgbClr val="FFFFFF"/>
                </a:solidFill>
                <a:latin typeface="Menlo"/>
              </a:rPr>
              <a:t>схема</a:t>
            </a:r>
            <a:r>
              <a:rPr sz="950" dirty="0">
                <a:solidFill>
                  <a:srgbClr val="FFFFFF"/>
                </a:solidFill>
                <a:latin typeface="Menlo"/>
              </a:rPr>
              <a:t> </a:t>
            </a:r>
            <a:r>
              <a:rPr sz="950" dirty="0" err="1">
                <a:solidFill>
                  <a:srgbClr val="FFFFFF"/>
                </a:solidFill>
                <a:latin typeface="Menlo"/>
              </a:rPr>
              <a:t>с</a:t>
            </a:r>
            <a:r>
              <a:rPr sz="950" dirty="0">
                <a:solidFill>
                  <a:srgbClr val="FFFFFF"/>
                </a:solidFill>
                <a:latin typeface="Menlo"/>
              </a:rPr>
              <a:t> </a:t>
            </a:r>
            <a:r>
              <a:rPr sz="950" dirty="0" err="1">
                <a:solidFill>
                  <a:srgbClr val="FFFFFF"/>
                </a:solidFill>
                <a:latin typeface="Menlo"/>
              </a:rPr>
              <a:t>текущей</a:t>
            </a:r>
            <a:r>
              <a:rPr sz="950" dirty="0">
                <a:solidFill>
                  <a:srgbClr val="FFFFFF"/>
                </a:solidFill>
                <a:latin typeface="Menlo"/>
              </a:rPr>
              <a:t> </a:t>
            </a:r>
            <a:r>
              <a:rPr sz="950" dirty="0" err="1">
                <a:solidFill>
                  <a:srgbClr val="FFFFFF"/>
                </a:solidFill>
                <a:latin typeface="Menlo"/>
              </a:rPr>
              <a:t>эпохой</a:t>
            </a:r>
            <a:endParaRPr sz="950" dirty="0">
              <a:solidFill>
                <a:srgbClr val="FFFFFF"/>
              </a:solidFill>
              <a:latin typeface="Menlo"/>
            </a:endParaRPr>
          </a:p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950">
                <a:latin typeface="Menlo"/>
              </a:defRPr>
            </a:pPr>
            <a:r>
              <a:rPr sz="950" b="1" dirty="0" err="1">
                <a:solidFill>
                  <a:srgbClr val="6FD3F5"/>
                </a:solidFill>
                <a:latin typeface="Menlo"/>
              </a:rPr>
              <a:t>Закрытие</a:t>
            </a:r>
            <a:r>
              <a:rPr sz="950" b="1" dirty="0">
                <a:solidFill>
                  <a:srgbClr val="6FD3F5"/>
                </a:solidFill>
                <a:latin typeface="Menlo"/>
              </a:rPr>
              <a:t> </a:t>
            </a:r>
            <a:r>
              <a:rPr sz="950" b="1" dirty="0" err="1">
                <a:solidFill>
                  <a:srgbClr val="6FD3F5"/>
                </a:solidFill>
                <a:latin typeface="Menlo"/>
              </a:rPr>
              <a:t>пары</a:t>
            </a:r>
            <a:r>
              <a:rPr sz="950" b="1" dirty="0">
                <a:solidFill>
                  <a:srgbClr val="6FD3F5"/>
                </a:solidFill>
                <a:latin typeface="Menlo"/>
              </a:rPr>
              <a:t>: </a:t>
            </a:r>
            <a:r>
              <a:rPr sz="950" dirty="0" err="1">
                <a:solidFill>
                  <a:srgbClr val="FFFFFF"/>
                </a:solidFill>
                <a:latin typeface="Menlo"/>
              </a:rPr>
              <a:t>хаб</a:t>
            </a:r>
            <a:r>
              <a:rPr sz="950" dirty="0">
                <a:solidFill>
                  <a:srgbClr val="FFFFFF"/>
                </a:solidFill>
                <a:latin typeface="Menlo"/>
              </a:rPr>
              <a:t> </a:t>
            </a:r>
            <a:r>
              <a:rPr sz="950" dirty="0" err="1">
                <a:solidFill>
                  <a:srgbClr val="FFFFFF"/>
                </a:solidFill>
                <a:latin typeface="Menlo"/>
              </a:rPr>
              <a:t>подписывает</a:t>
            </a:r>
            <a:r>
              <a:rPr sz="950" dirty="0">
                <a:solidFill>
                  <a:srgbClr val="FFFFFF"/>
                </a:solidFill>
                <a:latin typeface="Menlo"/>
              </a:rPr>
              <a:t> </a:t>
            </a:r>
            <a:r>
              <a:rPr sz="950" dirty="0" err="1">
                <a:solidFill>
                  <a:srgbClr val="FFFFFF"/>
                </a:solidFill>
                <a:latin typeface="Menlo"/>
              </a:rPr>
              <a:t>WitnessBatch</a:t>
            </a:r>
            <a:r>
              <a:rPr sz="950" dirty="0">
                <a:solidFill>
                  <a:srgbClr val="FFFFFF"/>
                </a:solidFill>
                <a:latin typeface="Menlo"/>
              </a:rPr>
              <a:t> — Merkle-</a:t>
            </a:r>
            <a:r>
              <a:rPr sz="950" dirty="0" err="1">
                <a:solidFill>
                  <a:srgbClr val="FFFFFF"/>
                </a:solidFill>
                <a:latin typeface="Menlo"/>
              </a:rPr>
              <a:t>корень</a:t>
            </a:r>
            <a:r>
              <a:rPr sz="950" dirty="0">
                <a:solidFill>
                  <a:srgbClr val="FFFFFF"/>
                </a:solidFill>
                <a:latin typeface="Menlo"/>
              </a:rPr>
              <a:t> </a:t>
            </a:r>
            <a:r>
              <a:rPr sz="950" dirty="0" err="1">
                <a:solidFill>
                  <a:srgbClr val="FFFFFF"/>
                </a:solidFill>
                <a:latin typeface="Menlo"/>
              </a:rPr>
              <a:t>всех</a:t>
            </a:r>
            <a:r>
              <a:rPr sz="950" dirty="0">
                <a:solidFill>
                  <a:srgbClr val="FFFFFF"/>
                </a:solidFill>
                <a:latin typeface="Menlo"/>
              </a:rPr>
              <a:t> </a:t>
            </a:r>
            <a:r>
              <a:rPr sz="950" dirty="0" err="1">
                <a:solidFill>
                  <a:srgbClr val="FFFFFF"/>
                </a:solidFill>
                <a:latin typeface="Menlo"/>
              </a:rPr>
              <a:t>принятых</a:t>
            </a:r>
            <a:r>
              <a:rPr sz="950" dirty="0">
                <a:solidFill>
                  <a:srgbClr val="FFFFFF"/>
                </a:solidFill>
                <a:latin typeface="Menlo"/>
              </a:rPr>
              <a:t> </a:t>
            </a:r>
            <a:r>
              <a:rPr sz="950" dirty="0" err="1">
                <a:solidFill>
                  <a:srgbClr val="FFFFFF"/>
                </a:solidFill>
                <a:latin typeface="Menlo"/>
              </a:rPr>
              <a:t>отметок</a:t>
            </a:r>
            <a:endParaRPr sz="950" dirty="0">
              <a:solidFill>
                <a:srgbClr val="FFFFFF"/>
              </a:solidFill>
              <a:latin typeface="Menlo"/>
            </a:endParaRPr>
          </a:p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950">
                <a:latin typeface="Menlo"/>
              </a:defRPr>
            </a:pPr>
            <a:r>
              <a:rPr sz="950" b="1" dirty="0" err="1">
                <a:solidFill>
                  <a:srgbClr val="6FD3F5"/>
                </a:solidFill>
                <a:latin typeface="Menlo"/>
              </a:rPr>
              <a:t>Дальше</a:t>
            </a:r>
            <a:r>
              <a:rPr sz="950" b="1" dirty="0">
                <a:solidFill>
                  <a:srgbClr val="6FD3F5"/>
                </a:solidFill>
                <a:latin typeface="Menlo"/>
              </a:rPr>
              <a:t>: </a:t>
            </a:r>
            <a:r>
              <a:rPr sz="950" dirty="0" err="1">
                <a:solidFill>
                  <a:srgbClr val="FFFFFF"/>
                </a:solidFill>
                <a:latin typeface="Menlo"/>
              </a:rPr>
              <a:t>синхронизация</a:t>
            </a:r>
            <a:r>
              <a:rPr sz="950" dirty="0">
                <a:solidFill>
                  <a:srgbClr val="FFFFFF"/>
                </a:solidFill>
                <a:latin typeface="Menlo"/>
              </a:rPr>
              <a:t> </a:t>
            </a:r>
            <a:r>
              <a:rPr sz="950" dirty="0" err="1">
                <a:solidFill>
                  <a:srgbClr val="FFFFFF"/>
                </a:solidFill>
                <a:latin typeface="Menlo"/>
              </a:rPr>
              <a:t>при</a:t>
            </a:r>
            <a:r>
              <a:rPr sz="950" dirty="0">
                <a:solidFill>
                  <a:srgbClr val="FFFFFF"/>
                </a:solidFill>
                <a:latin typeface="Menlo"/>
              </a:rPr>
              <a:t> </a:t>
            </a:r>
            <a:r>
              <a:rPr sz="950" dirty="0" err="1">
                <a:solidFill>
                  <a:srgbClr val="FFFFFF"/>
                </a:solidFill>
                <a:latin typeface="Menlo"/>
              </a:rPr>
              <a:t>любой</a:t>
            </a:r>
            <a:r>
              <a:rPr sz="950" dirty="0">
                <a:solidFill>
                  <a:srgbClr val="FFFFFF"/>
                </a:solidFill>
                <a:latin typeface="Menlo"/>
              </a:rPr>
              <a:t> </a:t>
            </a:r>
            <a:r>
              <a:rPr sz="950" dirty="0" err="1">
                <a:solidFill>
                  <a:srgbClr val="FFFFFF"/>
                </a:solidFill>
                <a:latin typeface="Menlo"/>
              </a:rPr>
              <a:t>сети</a:t>
            </a:r>
            <a:endParaRPr sz="950" dirty="0">
              <a:solidFill>
                <a:srgbClr val="FFFFFF"/>
              </a:solidFill>
              <a:latin typeface="Menlo"/>
            </a:endParaRPr>
          </a:p>
        </p:txBody>
      </p:sp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15512DBB-5410-F348-2CA1-A022CB4005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29" t="6638" r="9308" b="6818"/>
          <a:stretch>
            <a:fillRect/>
          </a:stretch>
        </p:blipFill>
        <p:spPr>
          <a:xfrm>
            <a:off x="8356762" y="73296"/>
            <a:ext cx="729049" cy="83519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9900"/>
            <a:ext cx="9144000" cy="38100"/>
          </a:xfrm>
          <a:prstGeom prst="rect">
            <a:avLst/>
          </a:prstGeom>
          <a:solidFill>
            <a:srgbClr val="1E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1">
                <a:solidFill>
                  <a:srgbClr val="4D9BFF"/>
                </a:solidFill>
                <a:latin typeface="Menlo"/>
              </a:defRPr>
            </a:pPr>
            <a:r>
              <a:t>ЛОГИЧЕСКАЯ СХЕМА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600" b="1">
                <a:solidFill>
                  <a:srgbClr val="FFFFFF"/>
                </a:solidFill>
                <a:latin typeface="Menlo"/>
              </a:defRPr>
            </a:pPr>
            <a:r>
              <a:t>ЧЕТЫРЕ ФАКТА, КОТОРЫЕ ЛЕТАЮТ В АУДИТОРИИ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9BE7FF"/>
                </a:solidFill>
                <a:latin typeface="Menlo"/>
              </a:defRPr>
            </a:pPr>
            <a:r>
              <a:t>Каноника RFC 8785 → SHA-256 = идентификатор факта; подписи ES256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8046720" cy="19050"/>
          </a:xfrm>
          <a:prstGeom prst="rect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3931920" cy="1783080"/>
          </a:xfrm>
          <a:prstGeom prst="rect">
            <a:avLst/>
          </a:prstGeom>
          <a:solidFill>
            <a:srgbClr val="071833"/>
          </a:solidFill>
          <a:ln w="9525">
            <a:solidFill>
              <a:srgbClr val="4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6733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6FD3F5"/>
                </a:solidFill>
                <a:latin typeface="Menlo"/>
              </a:defRPr>
            </a:pPr>
            <a:r>
              <a:t>F1 · SESSIONANCHOR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938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8FA3BF"/>
                </a:solidFill>
                <a:latin typeface="Menlo"/>
              </a:defRPr>
            </a:pPr>
            <a:r>
              <a:t>подписант: хаб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67128"/>
            <a:ext cx="3657600" cy="987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spcAft>
                <a:spcPts val="100"/>
              </a:spcAft>
              <a:buFont typeface="Arial" panose="020B0604020202020204" pitchFamily="34" charset="0"/>
              <a:buChar char="•"/>
              <a:defRPr sz="900" b="0">
                <a:solidFill>
                  <a:srgbClr val="FFFFFF"/>
                </a:solidFill>
                <a:latin typeface="Menlo"/>
              </a:defRPr>
            </a:pPr>
            <a:r>
              <a:rPr dirty="0" err="1"/>
              <a:t>session_id</a:t>
            </a:r>
            <a:r>
              <a:rPr dirty="0"/>
              <a:t> · </a:t>
            </a:r>
            <a:endParaRPr lang="ru-RU" dirty="0"/>
          </a:p>
          <a:p>
            <a:pPr marL="171450" indent="-171450" algn="l">
              <a:spcAft>
                <a:spcPts val="100"/>
              </a:spcAft>
              <a:buFont typeface="Arial" panose="020B0604020202020204" pitchFamily="34" charset="0"/>
              <a:buChar char="•"/>
              <a:defRPr sz="900" b="0">
                <a:solidFill>
                  <a:srgbClr val="FFFFFF"/>
                </a:solidFill>
                <a:latin typeface="Menlo"/>
              </a:defRPr>
            </a:pPr>
            <a:r>
              <a:rPr dirty="0" err="1"/>
              <a:t>epoch_index</a:t>
            </a:r>
            <a:endParaRPr lang="ru-RU" dirty="0"/>
          </a:p>
          <a:p>
            <a:pPr marL="171450" indent="-171450" algn="l">
              <a:spcAft>
                <a:spcPts val="100"/>
              </a:spcAft>
              <a:buFont typeface="Arial" panose="020B0604020202020204" pitchFamily="34" charset="0"/>
              <a:buChar char="•"/>
              <a:defRPr sz="900" b="0">
                <a:solidFill>
                  <a:srgbClr val="FFFFFF"/>
                </a:solidFill>
                <a:latin typeface="Menlo"/>
              </a:defRPr>
            </a:pPr>
            <a:r>
              <a:rPr dirty="0" err="1"/>
              <a:t>epoch_nonce</a:t>
            </a:r>
            <a:r>
              <a:rPr dirty="0"/>
              <a:t> (128 bit)</a:t>
            </a:r>
            <a:endParaRPr lang="ru-RU" dirty="0"/>
          </a:p>
          <a:p>
            <a:pPr marL="171450" indent="-171450" algn="l">
              <a:spcAft>
                <a:spcPts val="100"/>
              </a:spcAft>
              <a:buFont typeface="Arial" panose="020B0604020202020204" pitchFamily="34" charset="0"/>
              <a:buChar char="•"/>
              <a:defRPr sz="900" b="0">
                <a:solidFill>
                  <a:srgbClr val="FFFFFF"/>
                </a:solidFill>
                <a:latin typeface="Menlo"/>
              </a:defRPr>
            </a:pPr>
            <a:r>
              <a:rPr dirty="0" err="1"/>
              <a:t>prev_anchor_hash</a:t>
            </a:r>
            <a:r>
              <a:rPr dirty="0"/>
              <a:t> · </a:t>
            </a:r>
            <a:endParaRPr lang="ru-RU" dirty="0"/>
          </a:p>
          <a:p>
            <a:pPr marL="171450" indent="-171450" algn="l">
              <a:spcAft>
                <a:spcPts val="100"/>
              </a:spcAft>
              <a:buFont typeface="Arial" panose="020B0604020202020204" pitchFamily="34" charset="0"/>
              <a:buChar char="•"/>
              <a:defRPr sz="900" b="0">
                <a:solidFill>
                  <a:srgbClr val="FFFFFF"/>
                </a:solidFill>
                <a:latin typeface="Menlo"/>
              </a:defRPr>
            </a:pPr>
            <a:r>
              <a:rPr dirty="0" err="1"/>
              <a:t>hub_key_id</a:t>
            </a:r>
            <a:endParaRPr lang="ru-RU" dirty="0"/>
          </a:p>
          <a:p>
            <a:pPr marL="171450" indent="-171450" algn="l">
              <a:spcAft>
                <a:spcPts val="100"/>
              </a:spcAft>
              <a:buFont typeface="Arial" panose="020B0604020202020204" pitchFamily="34" charset="0"/>
              <a:buChar char="•"/>
              <a:defRPr sz="900" b="0">
                <a:solidFill>
                  <a:srgbClr val="FFFFFF"/>
                </a:solidFill>
                <a:latin typeface="Menlo"/>
              </a:defRPr>
            </a:pPr>
            <a:r>
              <a:rPr dirty="0" err="1"/>
              <a:t>policy_hash</a:t>
            </a:r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4663440" y="1600200"/>
            <a:ext cx="3931920" cy="1783080"/>
          </a:xfrm>
          <a:prstGeom prst="rect">
            <a:avLst/>
          </a:prstGeom>
          <a:solidFill>
            <a:srgbClr val="071833"/>
          </a:solidFill>
          <a:ln w="9525">
            <a:solidFill>
              <a:srgbClr val="4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16733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6FD3F5"/>
                </a:solidFill>
                <a:latin typeface="Menlo"/>
              </a:defRPr>
            </a:pPr>
            <a:r>
              <a:t>F2 · MARK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92938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8FA3BF"/>
                </a:solidFill>
                <a:latin typeface="Menlo"/>
              </a:defRPr>
            </a:pPr>
            <a:r>
              <a:t>подписант: студент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167128"/>
            <a:ext cx="3657600" cy="671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spcAft>
                <a:spcPts val="100"/>
              </a:spcAft>
              <a:buFont typeface="Arial" panose="020B0604020202020204" pitchFamily="34" charset="0"/>
              <a:buChar char="•"/>
              <a:defRPr sz="900" b="0">
                <a:solidFill>
                  <a:srgbClr val="FFFFFF"/>
                </a:solidFill>
                <a:latin typeface="Menlo"/>
              </a:defRPr>
            </a:pPr>
            <a:r>
              <a:rPr dirty="0" err="1"/>
              <a:t>anchor_hash</a:t>
            </a:r>
            <a:endParaRPr lang="ru-RU" dirty="0"/>
          </a:p>
          <a:p>
            <a:pPr marL="171450" indent="-171450" algn="l">
              <a:spcAft>
                <a:spcPts val="100"/>
              </a:spcAft>
              <a:buFont typeface="Arial" panose="020B0604020202020204" pitchFamily="34" charset="0"/>
              <a:buChar char="•"/>
              <a:defRPr sz="900" b="0">
                <a:solidFill>
                  <a:srgbClr val="FFFFFF"/>
                </a:solidFill>
                <a:latin typeface="Menlo"/>
              </a:defRPr>
            </a:pPr>
            <a:r>
              <a:rPr dirty="0" err="1"/>
              <a:t>credential_hash</a:t>
            </a:r>
            <a:endParaRPr lang="ru-RU" dirty="0"/>
          </a:p>
          <a:p>
            <a:pPr marL="171450" indent="-171450" algn="l">
              <a:spcAft>
                <a:spcPts val="100"/>
              </a:spcAft>
              <a:buFont typeface="Arial" panose="020B0604020202020204" pitchFamily="34" charset="0"/>
              <a:buChar char="•"/>
              <a:defRPr sz="900" b="0">
                <a:solidFill>
                  <a:srgbClr val="FFFFFF"/>
                </a:solidFill>
                <a:latin typeface="Menlo"/>
              </a:defRPr>
            </a:pPr>
            <a:r>
              <a:rPr dirty="0" err="1"/>
              <a:t>mark_nonce</a:t>
            </a:r>
            <a:br>
              <a:rPr dirty="0"/>
            </a:br>
            <a:r>
              <a:rPr dirty="0"/>
              <a:t>(</a:t>
            </a:r>
            <a:r>
              <a:rPr dirty="0" err="1"/>
              <a:t>поля</a:t>
            </a:r>
            <a:r>
              <a:rPr dirty="0"/>
              <a:t> </a:t>
            </a:r>
            <a:r>
              <a:rPr dirty="0" err="1"/>
              <a:t>времени</a:t>
            </a:r>
            <a:r>
              <a:rPr dirty="0"/>
              <a:t> НЕТ — </a:t>
            </a:r>
            <a:r>
              <a:rPr dirty="0" err="1"/>
              <a:t>принцип</a:t>
            </a:r>
            <a:r>
              <a:rPr dirty="0"/>
              <a:t>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520440"/>
            <a:ext cx="3931920" cy="1783080"/>
          </a:xfrm>
          <a:prstGeom prst="rect">
            <a:avLst/>
          </a:prstGeom>
          <a:solidFill>
            <a:srgbClr val="071833"/>
          </a:solidFill>
          <a:ln w="9525">
            <a:solidFill>
              <a:srgbClr val="4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5935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6FD3F5"/>
                </a:solidFill>
                <a:latin typeface="Menlo"/>
              </a:defRPr>
            </a:pPr>
            <a:r>
              <a:t>F3 · RECEIPT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84962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8FA3BF"/>
                </a:solidFill>
                <a:latin typeface="Menlo"/>
              </a:defRPr>
            </a:pPr>
            <a:r>
              <a:t>подписант: хаб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087368"/>
            <a:ext cx="3657600" cy="684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spcAft>
                <a:spcPts val="100"/>
              </a:spcAft>
              <a:buFont typeface="Arial" panose="020B0604020202020204" pitchFamily="34" charset="0"/>
              <a:buChar char="•"/>
              <a:defRPr sz="900" b="0">
                <a:solidFill>
                  <a:srgbClr val="FFFFFF"/>
                </a:solidFill>
                <a:latin typeface="Menlo"/>
              </a:defRPr>
            </a:pPr>
            <a:r>
              <a:rPr dirty="0" err="1"/>
              <a:t>mark_hash</a:t>
            </a:r>
            <a:r>
              <a:rPr dirty="0"/>
              <a:t> · </a:t>
            </a:r>
            <a:endParaRPr lang="ru-RU" dirty="0"/>
          </a:p>
          <a:p>
            <a:pPr marL="171450" indent="-171450" algn="l">
              <a:spcAft>
                <a:spcPts val="100"/>
              </a:spcAft>
              <a:buFont typeface="Arial" panose="020B0604020202020204" pitchFamily="34" charset="0"/>
              <a:buChar char="•"/>
              <a:defRPr sz="900" b="0">
                <a:solidFill>
                  <a:srgbClr val="FFFFFF"/>
                </a:solidFill>
                <a:latin typeface="Menlo"/>
              </a:defRPr>
            </a:pPr>
            <a:r>
              <a:rPr dirty="0" err="1"/>
              <a:t>anchor_hash</a:t>
            </a:r>
            <a:endParaRPr lang="ru-RU" dirty="0"/>
          </a:p>
          <a:p>
            <a:pPr marL="171450" indent="-171450" algn="l">
              <a:spcAft>
                <a:spcPts val="100"/>
              </a:spcAft>
              <a:buFont typeface="Arial" panose="020B0604020202020204" pitchFamily="34" charset="0"/>
              <a:buChar char="•"/>
              <a:defRPr sz="900" b="0">
                <a:solidFill>
                  <a:srgbClr val="FFFFFF"/>
                </a:solidFill>
                <a:latin typeface="Menlo"/>
              </a:defRPr>
            </a:pPr>
            <a:r>
              <a:rPr dirty="0" err="1"/>
              <a:t>receive_seq</a:t>
            </a:r>
            <a:endParaRPr lang="ru-RU" dirty="0"/>
          </a:p>
          <a:p>
            <a:pPr marL="171450" indent="-171450" algn="l">
              <a:spcAft>
                <a:spcPts val="100"/>
              </a:spcAft>
              <a:buFont typeface="Arial" panose="020B0604020202020204" pitchFamily="34" charset="0"/>
              <a:buChar char="•"/>
              <a:defRPr sz="900" b="0">
                <a:solidFill>
                  <a:srgbClr val="FFFFFF"/>
                </a:solidFill>
                <a:latin typeface="Menlo"/>
              </a:defRPr>
            </a:pPr>
            <a:r>
              <a:rPr dirty="0" err="1"/>
              <a:t>epoch_state</a:t>
            </a:r>
            <a:r>
              <a:rPr dirty="0"/>
              <a:t>: open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3520440"/>
            <a:ext cx="3931920" cy="1783080"/>
          </a:xfrm>
          <a:prstGeom prst="rect">
            <a:avLst/>
          </a:prstGeom>
          <a:solidFill>
            <a:srgbClr val="071833"/>
          </a:solidFill>
          <a:ln w="9525">
            <a:solidFill>
              <a:srgbClr val="4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00600" y="35935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6FD3F5"/>
                </a:solidFill>
                <a:latin typeface="Menlo"/>
              </a:defRPr>
            </a:pPr>
            <a:r>
              <a:t>F4 · WITNESSBATCH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384962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8FA3BF"/>
                </a:solidFill>
                <a:latin typeface="Menlo"/>
              </a:defRPr>
            </a:pPr>
            <a:r>
              <a:t>подписант: хаб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4087368"/>
            <a:ext cx="3657600" cy="684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spcAft>
                <a:spcPts val="100"/>
              </a:spcAft>
              <a:buFont typeface="Arial" panose="020B0604020202020204" pitchFamily="34" charset="0"/>
              <a:buChar char="•"/>
              <a:defRPr sz="900" b="0">
                <a:solidFill>
                  <a:srgbClr val="FFFFFF"/>
                </a:solidFill>
                <a:latin typeface="Menlo"/>
              </a:defRPr>
            </a:pPr>
            <a:r>
              <a:rPr dirty="0" err="1"/>
              <a:t>session_id</a:t>
            </a:r>
            <a:r>
              <a:rPr dirty="0"/>
              <a:t> · </a:t>
            </a:r>
            <a:endParaRPr lang="ru-RU" dirty="0"/>
          </a:p>
          <a:p>
            <a:pPr marL="171450" indent="-171450" algn="l">
              <a:spcAft>
                <a:spcPts val="100"/>
              </a:spcAft>
              <a:buFont typeface="Arial" panose="020B0604020202020204" pitchFamily="34" charset="0"/>
              <a:buChar char="•"/>
              <a:defRPr sz="900" b="0">
                <a:solidFill>
                  <a:srgbClr val="FFFFFF"/>
                </a:solidFill>
                <a:latin typeface="Menlo"/>
              </a:defRPr>
            </a:pPr>
            <a:r>
              <a:rPr dirty="0" err="1"/>
              <a:t>final_epoch</a:t>
            </a:r>
            <a:endParaRPr lang="ru-RU" dirty="0"/>
          </a:p>
          <a:p>
            <a:pPr marL="171450" indent="-171450" algn="l">
              <a:spcAft>
                <a:spcPts val="100"/>
              </a:spcAft>
              <a:buFont typeface="Arial" panose="020B0604020202020204" pitchFamily="34" charset="0"/>
              <a:buChar char="•"/>
              <a:defRPr sz="900" b="0">
                <a:solidFill>
                  <a:srgbClr val="FFFFFF"/>
                </a:solidFill>
                <a:latin typeface="Menlo"/>
              </a:defRPr>
            </a:pPr>
            <a:r>
              <a:rPr dirty="0" err="1"/>
              <a:t>merkle_root</a:t>
            </a:r>
            <a:r>
              <a:rPr dirty="0"/>
              <a:t> (</a:t>
            </a:r>
            <a:r>
              <a:rPr dirty="0" err="1"/>
              <a:t>mark_hashes</a:t>
            </a:r>
            <a:r>
              <a:rPr dirty="0"/>
              <a:t>)</a:t>
            </a:r>
            <a:endParaRPr lang="ru-RU" dirty="0"/>
          </a:p>
          <a:p>
            <a:pPr marL="171450" indent="-171450" algn="l">
              <a:spcAft>
                <a:spcPts val="100"/>
              </a:spcAft>
              <a:buFont typeface="Arial" panose="020B0604020202020204" pitchFamily="34" charset="0"/>
              <a:buChar char="•"/>
              <a:defRPr sz="900" b="0">
                <a:solidFill>
                  <a:srgbClr val="FFFFFF"/>
                </a:solidFill>
                <a:latin typeface="Menlo"/>
              </a:defRPr>
            </a:pPr>
            <a:r>
              <a:rPr dirty="0"/>
              <a:t>count · </a:t>
            </a:r>
            <a:r>
              <a:rPr dirty="0" err="1"/>
              <a:t>final_seq</a:t>
            </a:r>
            <a:r>
              <a:rPr dirty="0"/>
              <a:t> · </a:t>
            </a:r>
            <a:r>
              <a:rPr dirty="0" err="1"/>
              <a:t>prev_batch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548640" y="544068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9BE7FF"/>
                </a:solidFill>
                <a:latin typeface="Menlo"/>
              </a:defRPr>
            </a:pPr>
            <a:r>
              <a:t>Плюс онбординг и вердикты:  DeviceCredential / TeacherCredential (подписывает SSO-валидатор)  ·  Decision (подписывает синхронизатор).  Идентичность факта = его хэш; лишних uuid нет.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739A2D88-3889-507C-8DEB-2B10F198E7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29" t="6638" r="9308" b="6818"/>
          <a:stretch>
            <a:fillRect/>
          </a:stretch>
        </p:blipFill>
        <p:spPr>
          <a:xfrm>
            <a:off x="8356762" y="73296"/>
            <a:ext cx="729049" cy="83519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9900"/>
            <a:ext cx="9144000" cy="38100"/>
          </a:xfrm>
          <a:prstGeom prst="rect">
            <a:avLst/>
          </a:prstGeom>
          <a:solidFill>
            <a:srgbClr val="1E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1">
                <a:solidFill>
                  <a:srgbClr val="4D9BFF"/>
                </a:solidFill>
                <a:latin typeface="Menlo"/>
              </a:defRPr>
            </a:pPr>
            <a:r>
              <a:t>ХАБ ПРЕПОДАВАТЕЛЯ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600" b="1">
                <a:solidFill>
                  <a:srgbClr val="FFFFFF"/>
                </a:solidFill>
                <a:latin typeface="Menlo"/>
              </a:defRPr>
            </a:pPr>
            <a:r>
              <a:t>ТРИ ВАРИАНТА РЕАЛИЗАЦИИ РАДИО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9BE7FF"/>
                </a:solidFill>
                <a:latin typeface="Menlo"/>
              </a:defRPr>
            </a:pPr>
            <a:r>
              <a:t>Один и тот же Hub Runtime — разное радио-железо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8046720" cy="19050"/>
          </a:xfrm>
          <a:prstGeom prst="rect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2606040" cy="3931920"/>
          </a:xfrm>
          <a:prstGeom prst="rect">
            <a:avLst/>
          </a:prstGeom>
          <a:solidFill>
            <a:srgbClr val="071833"/>
          </a:solidFill>
          <a:ln w="9525">
            <a:solidFill>
              <a:srgbClr val="4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1">
                <a:solidFill>
                  <a:srgbClr val="8FA3BF"/>
                </a:solidFill>
                <a:latin typeface="Menlo"/>
              </a:defRPr>
            </a:pPr>
            <a:r>
              <a:t>А · BT НОУТБУКА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286000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FFFFFF"/>
                </a:solidFill>
                <a:latin typeface="Menlo"/>
              </a:defRPr>
            </a:pPr>
            <a:r>
              <a:t>Нативная прослойка (tray/Electron):</a:t>
            </a:r>
            <a:br/>
            <a:r>
              <a:t>BluetoothLEAdvertisementPublisher</a:t>
            </a:r>
            <a:br/>
            <a:r>
              <a:t>+ GattServiceProvider (Win10 1803+)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1148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9BE7FF"/>
                </a:solidFill>
                <a:latin typeface="Menlo"/>
              </a:defRPr>
            </a:pPr>
            <a:r>
              <a:rPr dirty="0" err="1"/>
              <a:t>Радио</a:t>
            </a:r>
            <a:r>
              <a:rPr dirty="0"/>
              <a:t> </a:t>
            </a:r>
            <a:r>
              <a:rPr dirty="0" err="1"/>
              <a:t>зависит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драйвера</a:t>
            </a:r>
            <a:r>
              <a:rPr dirty="0"/>
              <a:t>;</a:t>
            </a:r>
            <a:br>
              <a:rPr dirty="0"/>
            </a:br>
            <a:r>
              <a:rPr dirty="0"/>
              <a:t>Web Bluetooth peripheral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умеет</a:t>
            </a:r>
            <a:br>
              <a:rPr dirty="0"/>
            </a:b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принципе</a:t>
            </a:r>
            <a:r>
              <a:rPr dirty="0"/>
              <a:t>.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пилота</a:t>
            </a:r>
            <a:r>
              <a:rPr dirty="0"/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4408" y="1600200"/>
            <a:ext cx="2606040" cy="3931920"/>
          </a:xfrm>
          <a:prstGeom prst="rect">
            <a:avLst/>
          </a:prstGeom>
          <a:solidFill>
            <a:srgbClr val="071833"/>
          </a:solidFill>
          <a:ln w="9525">
            <a:solidFill>
              <a:srgbClr val="4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74136" y="17373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1">
                <a:solidFill>
                  <a:srgbClr val="53E0A0"/>
                </a:solidFill>
                <a:latin typeface="Menlo"/>
              </a:defRPr>
            </a:pPr>
            <a:r>
              <a:t>Б · ESP32 В USB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6" y="2286000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FFFFFF"/>
                </a:solidFill>
                <a:latin typeface="Menlo"/>
              </a:defRPr>
            </a:pPr>
            <a:r>
              <a:t>Платка ~5-8$ в любой ПК:</a:t>
            </a:r>
            <a:br/>
            <a:r>
              <a:t>реклама + GATT на платке,</a:t>
            </a:r>
            <a:br/>
            <a:r>
              <a:t>ПК говорит с ней по USB как с модемом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4136" y="41148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9BE7FF"/>
                </a:solidFill>
                <a:latin typeface="Menlo"/>
              </a:defRPr>
            </a:pPr>
            <a:r>
              <a:t>Радио гарантировано; ключ в eFuse;</a:t>
            </a:r>
            <a:br/>
            <a:r>
              <a:t>та же платка — стационарно в аудиторию.</a:t>
            </a:r>
            <a:br/>
            <a:r>
              <a:t>РЕКОМЕНДУЕМ.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0176" y="1600200"/>
            <a:ext cx="2606040" cy="3931920"/>
          </a:xfrm>
          <a:prstGeom prst="rect">
            <a:avLst/>
          </a:prstGeom>
          <a:solidFill>
            <a:srgbClr val="071833"/>
          </a:solidFill>
          <a:ln w="9525">
            <a:solidFill>
              <a:srgbClr val="4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89904" y="17373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1">
                <a:solidFill>
                  <a:srgbClr val="8FA3BF"/>
                </a:solidFill>
                <a:latin typeface="Menlo"/>
              </a:defRPr>
            </a:pPr>
            <a:r>
              <a:t>В · ТЕЛЕФОН ПРЕПОДА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2286000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FFFFFF"/>
                </a:solidFill>
                <a:latin typeface="Menlo"/>
              </a:defRPr>
            </a:pPr>
            <a:r>
              <a:t>Кастомный нативный плагин peripheral</a:t>
            </a:r>
            <a:br/>
            <a:r>
              <a:t>(CBPeripheralManager на iOS):</a:t>
            </a:r>
            <a:br/>
            <a:r>
              <a:t>своя разработка и поддержка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9904" y="41148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9BE7FF"/>
                </a:solidFill>
                <a:latin typeface="Menlo"/>
              </a:defRPr>
            </a:pPr>
            <a:r>
              <a:t>Фолбэк «ничего не завезли»,</a:t>
            </a:r>
            <a:br/>
            <a:r>
              <a:t>не основной путь.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150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6FD3F5"/>
                </a:solidFill>
                <a:latin typeface="Menlo"/>
              </a:defRPr>
            </a:pPr>
            <a:r>
              <a:t>Wi-Fi LAN — запасной канал объёма: тот же хаб раздаёт точку «AttendPro-312» без Интернета; те же Mark/Receipt по HTTP. BLE-маяк остаётся обязательным фактором близости.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31CE2CBE-3C86-6771-343A-6C62573428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29" t="6638" r="9308" b="6818"/>
          <a:stretch>
            <a:fillRect/>
          </a:stretch>
        </p:blipFill>
        <p:spPr>
          <a:xfrm>
            <a:off x="8356762" y="73296"/>
            <a:ext cx="729049" cy="83519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9900"/>
            <a:ext cx="9144000" cy="38100"/>
          </a:xfrm>
          <a:prstGeom prst="rect">
            <a:avLst/>
          </a:prstGeom>
          <a:solidFill>
            <a:srgbClr val="1E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1">
                <a:solidFill>
                  <a:srgbClr val="4D9BFF"/>
                </a:solidFill>
                <a:latin typeface="Menlo"/>
              </a:defRPr>
            </a:pPr>
            <a:r>
              <a:t>ХРАНЕНИЕ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600" b="1">
                <a:solidFill>
                  <a:srgbClr val="FFFFFF"/>
                </a:solidFill>
                <a:latin typeface="Menlo"/>
              </a:defRPr>
            </a:pPr>
            <a:r>
              <a:t>ДВОЙНАЯ ЗАПИСЬ — ДОКАЗАТЕЛЬНАЯ АРХИТЕКТУРА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9BE7FF"/>
                </a:solidFill>
                <a:latin typeface="Menlo"/>
              </a:defRPr>
            </a:pPr>
            <a:r>
              <a:t>Отметка создаётся у студента И получается хабом: две половины доказательства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8046720" cy="19050"/>
          </a:xfrm>
          <a:prstGeom prst="rect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8046720" cy="2468880"/>
          </a:xfrm>
          <a:prstGeom prst="rect">
            <a:avLst/>
          </a:prstGeom>
          <a:solidFill>
            <a:srgbClr val="071833"/>
          </a:solidFill>
          <a:ln w="9525">
            <a:solidFill>
              <a:srgbClr val="4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965960"/>
            <a:ext cx="2286000" cy="914400"/>
          </a:xfrm>
          <a:prstGeom prst="rect">
            <a:avLst/>
          </a:prstGeom>
          <a:solidFill>
            <a:srgbClr val="0A2244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" y="1993391"/>
            <a:ext cx="2212848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900" b="0">
                <a:solidFill>
                  <a:srgbClr val="9BE7FF"/>
                </a:solidFill>
                <a:latin typeface="Menlo"/>
              </a:defRPr>
            </a:pPr>
            <a:r>
              <a:t>ТЕЛЕФОН СТУДЕНТА</a:t>
            </a:r>
            <a:br/>
            <a:r>
              <a:t>Giper Baza → IndexedDB</a:t>
            </a:r>
            <a:br/>
            <a:r>
              <a:t>Mark + Receipt</a:t>
            </a:r>
            <a:br/>
            <a:r>
              <a:t>(личные доказательства)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54680" y="2377440"/>
            <a:ext cx="201168" cy="109728"/>
          </a:xfrm>
          <a:prstGeom prst="rightArrow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9000" y="1965960"/>
            <a:ext cx="2286000" cy="914400"/>
          </a:xfrm>
          <a:prstGeom prst="rect">
            <a:avLst/>
          </a:prstGeom>
          <a:solidFill>
            <a:srgbClr val="1E6FEB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65576" y="1993391"/>
            <a:ext cx="2212848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900" b="1">
                <a:solidFill>
                  <a:srgbClr val="FFFFFF"/>
                </a:solidFill>
                <a:latin typeface="Menlo"/>
              </a:defRPr>
            </a:pPr>
            <a:r>
              <a:t>ХАБ ПРЕПОДАВАТЕЛЯ</a:t>
            </a:r>
            <a:br/>
            <a:r>
              <a:t>Giper Baza (Node, файлы)</a:t>
            </a:r>
            <a:br/>
            <a:r>
              <a:t>Mark-копии + Receipt</a:t>
            </a:r>
            <a:br/>
            <a:r>
              <a:t>+ WitnessBatch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06440" y="2377440"/>
            <a:ext cx="201168" cy="109728"/>
          </a:xfrm>
          <a:prstGeom prst="rightArrow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80760" y="1965960"/>
            <a:ext cx="2286000" cy="914400"/>
          </a:xfrm>
          <a:prstGeom prst="rect">
            <a:avLst/>
          </a:prstGeom>
          <a:solidFill>
            <a:srgbClr val="0A2244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17336" y="1993391"/>
            <a:ext cx="2212848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900" b="0">
                <a:solidFill>
                  <a:srgbClr val="9BE7FF"/>
                </a:solidFill>
                <a:latin typeface="Menlo"/>
              </a:defRPr>
            </a:pPr>
            <a:r>
              <a:t>СИНХРОНИЗАТОР</a:t>
            </a:r>
            <a:br/>
            <a:r>
              <a:t>Baza-реплика + аудит</a:t>
            </a:r>
            <a:br/>
            <a:r>
              <a:t>zero-trust верификация</a:t>
            </a:r>
            <a:br/>
            <a:r>
              <a:t>→ Decision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7178040" y="2926080"/>
            <a:ext cx="109728" cy="146304"/>
          </a:xfrm>
          <a:prstGeom prst="downArrow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80760" y="3154680"/>
            <a:ext cx="2286000" cy="640080"/>
          </a:xfrm>
          <a:prstGeom prst="rect">
            <a:avLst/>
          </a:prstGeom>
          <a:solidFill>
            <a:srgbClr val="071833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17336" y="3182112"/>
            <a:ext cx="2212848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900" b="0">
                <a:solidFill>
                  <a:srgbClr val="8FA3BF"/>
                </a:solidFill>
                <a:latin typeface="Menlo"/>
              </a:defRPr>
            </a:pPr>
            <a:r>
              <a:t>PostgreSQL → MODEUS</a:t>
            </a:r>
            <a:br/>
            <a:r>
              <a:t>проекция + экспорт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97680"/>
            <a:ext cx="8046720" cy="753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900">
                <a:latin typeface="Menlo"/>
              </a:defRPr>
            </a:pPr>
            <a:r>
              <a:rPr sz="900" b="1" dirty="0" err="1">
                <a:solidFill>
                  <a:srgbClr val="6FD3F5"/>
                </a:solidFill>
                <a:latin typeface="Menlo"/>
              </a:rPr>
              <a:t>Синхронизация</a:t>
            </a:r>
            <a:r>
              <a:rPr sz="900" b="1" dirty="0">
                <a:solidFill>
                  <a:srgbClr val="6FD3F5"/>
                </a:solidFill>
                <a:latin typeface="Menlo"/>
              </a:rPr>
              <a:t> — </a:t>
            </a:r>
            <a:r>
              <a:rPr sz="900" b="1" dirty="0" err="1">
                <a:solidFill>
                  <a:srgbClr val="6FD3F5"/>
                </a:solidFill>
                <a:latin typeface="Menlo"/>
              </a:rPr>
              <a:t>потом</a:t>
            </a:r>
            <a:r>
              <a:rPr sz="900" b="1" dirty="0">
                <a:solidFill>
                  <a:srgbClr val="6FD3F5"/>
                </a:solidFill>
                <a:latin typeface="Menlo"/>
              </a:rPr>
              <a:t>: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дельта-протокол</a:t>
            </a:r>
            <a:r>
              <a:rPr sz="900" dirty="0">
                <a:solidFill>
                  <a:srgbClr val="FFFFFF"/>
                </a:solidFill>
                <a:latin typeface="Menlo"/>
              </a:rPr>
              <a:t> Face/Diff/Pack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по</a:t>
            </a:r>
            <a:r>
              <a:rPr sz="900" dirty="0">
                <a:solidFill>
                  <a:srgbClr val="FFFFFF"/>
                </a:solidFill>
                <a:latin typeface="Menlo"/>
              </a:rPr>
              <a:t> WebSocket,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когда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появится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любая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сеть</a:t>
            </a:r>
            <a:endParaRPr sz="900" dirty="0">
              <a:solidFill>
                <a:srgbClr val="FFFFFF"/>
              </a:solidFill>
              <a:latin typeface="Menlo"/>
            </a:endParaRPr>
          </a:p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900">
                <a:latin typeface="Menlo"/>
              </a:defRPr>
            </a:pPr>
            <a:r>
              <a:rPr sz="900" b="1" dirty="0" err="1">
                <a:solidFill>
                  <a:srgbClr val="6FD3F5"/>
                </a:solidFill>
                <a:latin typeface="Menlo"/>
              </a:rPr>
              <a:t>Спор</a:t>
            </a:r>
            <a:r>
              <a:rPr sz="900" b="1" dirty="0">
                <a:solidFill>
                  <a:srgbClr val="6FD3F5"/>
                </a:solidFill>
                <a:latin typeface="Menlo"/>
              </a:rPr>
              <a:t> </a:t>
            </a:r>
            <a:r>
              <a:rPr sz="900" b="1" dirty="0" err="1">
                <a:solidFill>
                  <a:srgbClr val="6FD3F5"/>
                </a:solidFill>
                <a:latin typeface="Menlo"/>
              </a:rPr>
              <a:t>решается</a:t>
            </a:r>
            <a:r>
              <a:rPr sz="900" b="1" dirty="0">
                <a:solidFill>
                  <a:srgbClr val="6FD3F5"/>
                </a:solidFill>
                <a:latin typeface="Menlo"/>
              </a:rPr>
              <a:t> </a:t>
            </a:r>
            <a:r>
              <a:rPr sz="900" b="1" dirty="0" err="1">
                <a:solidFill>
                  <a:srgbClr val="6FD3F5"/>
                </a:solidFill>
                <a:latin typeface="Menlo"/>
              </a:rPr>
              <a:t>фактами</a:t>
            </a:r>
            <a:r>
              <a:rPr sz="900" b="1" dirty="0">
                <a:solidFill>
                  <a:srgbClr val="6FD3F5"/>
                </a:solidFill>
                <a:latin typeface="Menlo"/>
              </a:rPr>
              <a:t>: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у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студента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Mark+Receipt</a:t>
            </a:r>
            <a:r>
              <a:rPr sz="900" dirty="0">
                <a:solidFill>
                  <a:srgbClr val="FFFFFF"/>
                </a:solidFill>
                <a:latin typeface="Menlo"/>
              </a:rPr>
              <a:t>,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у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синхронизатора</a:t>
            </a:r>
            <a:r>
              <a:rPr sz="900" dirty="0">
                <a:solidFill>
                  <a:srgbClr val="FFFFFF"/>
                </a:solidFill>
                <a:latin typeface="Menlo"/>
              </a:rPr>
              <a:t> Batch —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всё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проверяется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криптографией</a:t>
            </a:r>
            <a:r>
              <a:rPr sz="900" dirty="0">
                <a:solidFill>
                  <a:srgbClr val="FFFFFF"/>
                </a:solidFill>
                <a:latin typeface="Menlo"/>
              </a:rPr>
              <a:t>,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ничьё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слово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не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нужно</a:t>
            </a:r>
            <a:endParaRPr sz="900" dirty="0">
              <a:solidFill>
                <a:srgbClr val="FFFFFF"/>
              </a:solidFill>
              <a:latin typeface="Menlo"/>
            </a:endParaRPr>
          </a:p>
          <a:p>
            <a:pPr marL="171450" indent="-171450">
              <a:lnSpc>
                <a:spcPct val="112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900">
                <a:latin typeface="Menlo"/>
              </a:defRPr>
            </a:pPr>
            <a:r>
              <a:rPr sz="900" b="1" dirty="0" err="1">
                <a:solidFill>
                  <a:srgbClr val="6FD3F5"/>
                </a:solidFill>
                <a:latin typeface="Menlo"/>
              </a:rPr>
              <a:t>Страховочная</a:t>
            </a:r>
            <a:r>
              <a:rPr sz="900" b="1" dirty="0">
                <a:solidFill>
                  <a:srgbClr val="6FD3F5"/>
                </a:solidFill>
                <a:latin typeface="Menlo"/>
              </a:rPr>
              <a:t> </a:t>
            </a:r>
            <a:r>
              <a:rPr sz="900" b="1" dirty="0" err="1">
                <a:solidFill>
                  <a:srgbClr val="6FD3F5"/>
                </a:solidFill>
                <a:latin typeface="Menlo"/>
              </a:rPr>
              <a:t>дверь</a:t>
            </a:r>
            <a:r>
              <a:rPr sz="900" b="1" dirty="0">
                <a:solidFill>
                  <a:srgbClr val="6FD3F5"/>
                </a:solidFill>
                <a:latin typeface="Menlo"/>
              </a:rPr>
              <a:t>: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конверты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фактов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самодостаточны</a:t>
            </a:r>
            <a:r>
              <a:rPr sz="900" dirty="0">
                <a:solidFill>
                  <a:srgbClr val="FFFFFF"/>
                </a:solidFill>
                <a:latin typeface="Menlo"/>
              </a:rPr>
              <a:t> —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хранилище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заменяемо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без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потери</a:t>
            </a:r>
            <a:r>
              <a:rPr sz="900" dirty="0">
                <a:solidFill>
                  <a:srgbClr val="FFFFFF"/>
                </a:solidFill>
                <a:latin typeface="Menl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Menlo"/>
              </a:rPr>
              <a:t>доказательств</a:t>
            </a:r>
            <a:endParaRPr sz="900" dirty="0">
              <a:solidFill>
                <a:srgbClr val="FFFFFF"/>
              </a:solidFill>
              <a:latin typeface="Menlo"/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D024A0C1-269B-19AF-9995-11CA4DCB03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29" t="6638" r="9308" b="6818"/>
          <a:stretch>
            <a:fillRect/>
          </a:stretch>
        </p:blipFill>
        <p:spPr>
          <a:xfrm>
            <a:off x="8356762" y="73296"/>
            <a:ext cx="729049" cy="83519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9900"/>
            <a:ext cx="9144000" cy="38100"/>
          </a:xfrm>
          <a:prstGeom prst="rect">
            <a:avLst/>
          </a:prstGeom>
          <a:solidFill>
            <a:srgbClr val="1E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1">
                <a:solidFill>
                  <a:srgbClr val="4D9BFF"/>
                </a:solidFill>
                <a:latin typeface="Menlo"/>
              </a:defRPr>
            </a:pPr>
            <a:r>
              <a:t>ВЫБОР ДВИЖКА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600" b="1">
                <a:solidFill>
                  <a:srgbClr val="FFFFFF"/>
                </a:solidFill>
                <a:latin typeface="Menlo"/>
              </a:defRPr>
            </a:pPr>
            <a:r>
              <a:t>ПОЧЕМУ GIPER BAZA (И ЧТО МЫ НЕ ИСПОЛЬЗУЕМ)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9BE7FF"/>
                </a:solidFill>
                <a:latin typeface="Menlo"/>
              </a:defRPr>
            </a:pPr>
            <a:r>
              <a:t>Берём не ради CRDT, а ради связки в одном пакете на нашем рантайме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8046720" cy="19050"/>
          </a:xfrm>
          <a:prstGeom prst="rect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3931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900">
                <a:latin typeface="Menlo"/>
              </a:defRPr>
            </a:pPr>
            <a:r>
              <a:rPr sz="900" b="1">
                <a:solidFill>
                  <a:srgbClr val="6FD3F5"/>
                </a:solidFill>
                <a:latin typeface="Menlo"/>
              </a:rPr>
              <a:t>Берём: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900">
                <a:latin typeface="Menlo"/>
              </a:defRPr>
            </a:pPr>
            <a:r>
              <a:rPr sz="900" b="1">
                <a:solidFill>
                  <a:srgbClr val="6FD3F5"/>
                </a:solidFill>
                <a:latin typeface="Menlo"/>
              </a:rPr>
              <a:t>1. Подписанные Unit+Seal </a:t>
            </a:r>
            <a:r>
              <a:rPr sz="900">
                <a:solidFill>
                  <a:srgbClr val="FFFFFF"/>
                </a:solidFill>
                <a:latin typeface="Menlo"/>
              </a:rPr>
              <a:t>— tamper-evidence на полке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900">
                <a:latin typeface="Menlo"/>
              </a:defRPr>
            </a:pPr>
            <a:r>
              <a:rPr sz="900" b="1">
                <a:solidFill>
                  <a:srgbClr val="6FD3F5"/>
                </a:solidFill>
                <a:latin typeface="Menlo"/>
              </a:rPr>
              <a:t>2. Lands + права </a:t>
            </a:r>
            <a:r>
              <a:rPr sz="900">
                <a:solidFill>
                  <a:srgbClr val="FFFFFF"/>
                </a:solidFill>
                <a:latin typeface="Menlo"/>
              </a:rPr>
              <a:t>— per-student ленды, офлайн-доставка Decision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900">
                <a:latin typeface="Menlo"/>
              </a:defRPr>
            </a:pPr>
            <a:r>
              <a:rPr sz="900" b="1">
                <a:solidFill>
                  <a:srgbClr val="6FD3F5"/>
                </a:solidFill>
                <a:latin typeface="Menlo"/>
              </a:rPr>
              <a:t>3. Face/Diff/Pack </a:t>
            </a:r>
            <a:r>
              <a:rPr sz="900">
                <a:solidFill>
                  <a:srgbClr val="FFFFFF"/>
                </a:solidFill>
                <a:latin typeface="Menlo"/>
              </a:rPr>
              <a:t>— готовый дельта-синк, не пишем outbox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900">
                <a:latin typeface="Menlo"/>
              </a:defRPr>
            </a:pPr>
            <a:r>
              <a:rPr sz="900" b="1">
                <a:solidFill>
                  <a:srgbClr val="6FD3F5"/>
                </a:solidFill>
                <a:latin typeface="Menlo"/>
              </a:rPr>
              <a:t>4. HLC </a:t>
            </a:r>
            <a:r>
              <a:rPr sz="900">
                <a:solidFill>
                  <a:srgbClr val="FFFFFF"/>
                </a:solidFill>
                <a:latin typeface="Menlo"/>
              </a:rPr>
              <a:t>— бесплатный монотонный предохранитель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900">
                <a:latin typeface="Menlo"/>
              </a:defRPr>
            </a:pPr>
            <a:r>
              <a:rPr sz="900" b="1">
                <a:solidFill>
                  <a:srgbClr val="6FD3F5"/>
                </a:solidFill>
                <a:latin typeface="Menlo"/>
              </a:rPr>
              <a:t>5. Один движок </a:t>
            </a:r>
            <a:r>
              <a:rPr sz="900">
                <a:solidFill>
                  <a:srgbClr val="FFFFFF"/>
                </a:solidFill>
                <a:latin typeface="Menlo"/>
              </a:rPr>
              <a:t>— браузер + Node: студент, хаб, синхронизатор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554480"/>
            <a:ext cx="3931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900">
                <a:latin typeface="Menlo"/>
              </a:defRPr>
            </a:pPr>
            <a:r>
              <a:rPr sz="900" b="1">
                <a:solidFill>
                  <a:srgbClr val="6FD3F5"/>
                </a:solidFill>
                <a:latin typeface="Menlo"/>
              </a:rPr>
              <a:t>Честно НЕ используем: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900">
                <a:latin typeface="Menlo"/>
              </a:defRPr>
            </a:pPr>
            <a:r>
              <a:rPr sz="900" b="1">
                <a:solidFill>
                  <a:srgbClr val="6FD3F5"/>
                </a:solidFill>
                <a:latin typeface="Menlo"/>
              </a:rPr>
              <a:t>• CRDT-слияние </a:t>
            </a:r>
            <a:r>
              <a:rPr sz="900">
                <a:solidFill>
                  <a:srgbClr val="FFFFFF"/>
                </a:solidFill>
                <a:latin typeface="Menlo"/>
              </a:rPr>
              <a:t>— писатели не пересекаются, хватит union-логики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900">
                <a:latin typeface="Menlo"/>
              </a:defRPr>
            </a:pPr>
            <a:r>
              <a:rPr sz="900" b="1">
                <a:solidFill>
                  <a:srgbClr val="6FD3F5"/>
                </a:solidFill>
                <a:latin typeface="Menlo"/>
              </a:rPr>
              <a:t>• Шифрование Land'ов </a:t>
            </a:r>
            <a:r>
              <a:rPr sz="900">
                <a:solidFill>
                  <a:srgbClr val="FFFFFF"/>
                </a:solidFill>
                <a:latin typeface="Menlo"/>
              </a:rPr>
              <a:t>— в MVP прятать нечего (канал шифрует сам BT)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900">
                <a:latin typeface="Menlo"/>
              </a:defRPr>
            </a:pPr>
            <a:r>
              <a:rPr sz="900" b="1">
                <a:solidFill>
                  <a:srgbClr val="6FD3F5"/>
                </a:solidFill>
                <a:latin typeface="Menlo"/>
              </a:rPr>
              <a:t>• Базу как источник политик </a:t>
            </a:r>
            <a:r>
              <a:rPr sz="900">
                <a:solidFill>
                  <a:srgbClr val="FFFFFF"/>
                </a:solidFill>
                <a:latin typeface="Menlo"/>
              </a:rPr>
              <a:t>— она принимает всё подписанное; валидатор — наш код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900">
                <a:latin typeface="Menlo"/>
              </a:defRPr>
            </a:pPr>
            <a:r>
              <a:rPr sz="900" b="1">
                <a:solidFill>
                  <a:srgbClr val="6FD3F5"/>
                </a:solidFill>
                <a:latin typeface="Menlo"/>
              </a:rPr>
              <a:t>Альтернативы: </a:t>
            </a:r>
            <a:r>
              <a:rPr sz="900">
                <a:solidFill>
                  <a:srgbClr val="FFFFFF"/>
                </a:solidFill>
                <a:latin typeface="Menlo"/>
              </a:rPr>
              <a:t>голый IndexedDB+outbox — три самописных слоя; Automerge/Yjs — сила не туда; «всё на хабе» — теряем доказательства студента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653228F-761B-D0FF-9157-A967689E37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29" t="6638" r="9308" b="6818"/>
          <a:stretch>
            <a:fillRect/>
          </a:stretch>
        </p:blipFill>
        <p:spPr>
          <a:xfrm>
            <a:off x="8356762" y="73296"/>
            <a:ext cx="729049" cy="83519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9900"/>
            <a:ext cx="9144000" cy="38100"/>
          </a:xfrm>
          <a:prstGeom prst="rect">
            <a:avLst/>
          </a:prstGeom>
          <a:solidFill>
            <a:srgbClr val="1E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1">
                <a:solidFill>
                  <a:srgbClr val="4D9BFF"/>
                </a:solidFill>
                <a:latin typeface="Menlo"/>
              </a:defRPr>
            </a:pPr>
            <a:r>
              <a:t>АКТОРЫ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600" b="1">
                <a:solidFill>
                  <a:srgbClr val="FFFFFF"/>
                </a:solidFill>
                <a:latin typeface="Menlo"/>
              </a:defRPr>
            </a:pPr>
            <a:r>
              <a:t>ЧЕТЫРЕ АКТОРА И АВТОРИЗАЦИЯ ПО SSO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9BE7FF"/>
                </a:solidFill>
                <a:latin typeface="Menlo"/>
              </a:defRPr>
            </a:pPr>
            <a:r>
              <a:t>Да, вход по университетской учётке будет: SSO-валидатор — отдельный актор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8046720" cy="19050"/>
          </a:xfrm>
          <a:prstGeom prst="rect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3931920" cy="1325880"/>
          </a:xfrm>
          <a:prstGeom prst="rect">
            <a:avLst/>
          </a:prstGeom>
          <a:solidFill>
            <a:srgbClr val="071833"/>
          </a:solidFill>
          <a:ln w="9525">
            <a:solidFill>
              <a:srgbClr val="4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6FD3F5"/>
                </a:solidFill>
                <a:latin typeface="Menlo"/>
              </a:defRPr>
            </a:pPr>
            <a:r>
              <a:t>СТУДЕНТ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FFFFFF"/>
                </a:solidFill>
                <a:latin typeface="Menlo"/>
              </a:defRPr>
            </a:pPr>
            <a:r>
              <a:rPr dirty="0" err="1"/>
              <a:t>ключ</a:t>
            </a:r>
            <a:r>
              <a:rPr dirty="0"/>
              <a:t> </a:t>
            </a:r>
            <a:r>
              <a:rPr dirty="0" err="1"/>
              <a:t>устройства</a:t>
            </a:r>
            <a:r>
              <a:rPr dirty="0"/>
              <a:t> + </a:t>
            </a:r>
            <a:r>
              <a:rPr dirty="0" err="1"/>
              <a:t>DeviceCredential</a:t>
            </a:r>
            <a:r>
              <a:rPr dirty="0"/>
              <a:t>; </a:t>
            </a:r>
            <a:r>
              <a:rPr dirty="0" err="1"/>
              <a:t>издаёт</a:t>
            </a:r>
            <a:r>
              <a:rPr dirty="0"/>
              <a:t> Mark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600200"/>
            <a:ext cx="3931920" cy="1325880"/>
          </a:xfrm>
          <a:prstGeom prst="rect">
            <a:avLst/>
          </a:prstGeom>
          <a:solidFill>
            <a:srgbClr val="071833"/>
          </a:solidFill>
          <a:ln w="9525">
            <a:solidFill>
              <a:srgbClr val="4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0600" y="1691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6FD3F5"/>
                </a:solidFill>
                <a:latin typeface="Menlo"/>
              </a:defRPr>
            </a:pPr>
            <a:r>
              <a:t>ПРЕПОДАВАТЕЛЬ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FFFFFF"/>
                </a:solidFill>
                <a:latin typeface="Menlo"/>
              </a:defRPr>
            </a:pPr>
            <a:r>
              <a:t>ключ хаба + TeacherCredential; издаёт Anchor / Receipt / Batch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63240"/>
            <a:ext cx="3931920" cy="1325880"/>
          </a:xfrm>
          <a:prstGeom prst="rect">
            <a:avLst/>
          </a:prstGeom>
          <a:solidFill>
            <a:srgbClr val="071833"/>
          </a:solidFill>
          <a:ln w="9525">
            <a:solidFill>
              <a:srgbClr val="4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154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6FD3F5"/>
                </a:solidFill>
                <a:latin typeface="Menlo"/>
              </a:defRPr>
            </a:pPr>
            <a:r>
              <a:t>SSO-ВАЛИДАТОР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474720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FFFFFF"/>
                </a:solidFill>
                <a:latin typeface="Menlo"/>
              </a:defRPr>
            </a:pPr>
            <a:r>
              <a:t>университетская identity: только он связывает ключ с человеком из контингента; издаёт Credentials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3063240"/>
            <a:ext cx="3931920" cy="1325880"/>
          </a:xfrm>
          <a:prstGeom prst="rect">
            <a:avLst/>
          </a:prstGeom>
          <a:solidFill>
            <a:srgbClr val="071833"/>
          </a:solidFill>
          <a:ln w="9525">
            <a:solidFill>
              <a:srgbClr val="4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00600" y="3154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6FD3F5"/>
                </a:solidFill>
                <a:latin typeface="Menlo"/>
              </a:defRPr>
            </a:pPr>
            <a:r>
              <a:t>СИНХРОНИЗАТОР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474720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FFFFFF"/>
                </a:solidFill>
                <a:latin typeface="Menlo"/>
              </a:defRPr>
            </a:pPr>
            <a:r>
              <a:t>zero-trust верификатор: повторяет все проверки, издаёт Decision; единственный, кто меняет официальную посещаемость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72000"/>
            <a:ext cx="8046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900">
                <a:latin typeface="Menlo"/>
              </a:defRPr>
            </a:pPr>
            <a:r>
              <a:rPr sz="900" b="1">
                <a:solidFill>
                  <a:srgbClr val="6FD3F5"/>
                </a:solidFill>
                <a:latin typeface="Menlo"/>
              </a:rPr>
              <a:t>Четыре пломбы системы: </a:t>
            </a:r>
            <a:r>
              <a:rPr sz="900">
                <a:solidFill>
                  <a:srgbClr val="FFFFFF"/>
                </a:solidFill>
                <a:latin typeface="Menlo"/>
              </a:rPr>
              <a:t>университет (креденшелы) · хаб (окно) · студент (отметка) · хаб (квитанция)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900">
                <a:latin typeface="Menlo"/>
              </a:defRPr>
            </a:pPr>
            <a:r>
              <a:rPr sz="900" b="1">
                <a:solidFill>
                  <a:srgbClr val="6FD3F5"/>
                </a:solidFill>
                <a:latin typeface="Menlo"/>
              </a:rPr>
              <a:t>Админ — не актор: </a:t>
            </a:r>
            <a:r>
              <a:rPr sz="900">
                <a:solidFill>
                  <a:srgbClr val="FFFFFF"/>
                </a:solidFill>
                <a:latin typeface="Menlo"/>
              </a:rPr>
              <a:t>исправления = подписанные факты-переопределения через синхронизатор, история не переписывается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733E8FB7-26AA-F239-2202-A382C789D0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29" t="6638" r="9308" b="6818"/>
          <a:stretch>
            <a:fillRect/>
          </a:stretch>
        </p:blipFill>
        <p:spPr>
          <a:xfrm>
            <a:off x="8356762" y="73296"/>
            <a:ext cx="729049" cy="83519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9900"/>
            <a:ext cx="9144000" cy="38100"/>
          </a:xfrm>
          <a:prstGeom prst="rect">
            <a:avLst/>
          </a:prstGeom>
          <a:solidFill>
            <a:srgbClr val="1E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1">
                <a:solidFill>
                  <a:srgbClr val="4D9BFF"/>
                </a:solidFill>
                <a:latin typeface="Menlo"/>
              </a:defRPr>
            </a:pPr>
            <a:r>
              <a:t>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600" b="1">
                <a:solidFill>
                  <a:srgbClr val="FFFFFF"/>
                </a:solidFill>
                <a:latin typeface="Menlo"/>
              </a:defRPr>
            </a:pPr>
            <a:r>
              <a:t>КОНТЕЙНЕРЫ: ФРОНТ / БЕК / ПЛАТФОРМА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9BE7FF"/>
                </a:solidFill>
                <a:latin typeface="Menlo"/>
              </a:defRPr>
            </a:pPr>
            <a:r>
              <a:t>Один веб-код · Capacitor-обёртка · жёсткое разделение слоёв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8046720" cy="19050"/>
          </a:xfrm>
          <a:prstGeom prst="rect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4023360" cy="4572000"/>
          </a:xfrm>
          <a:prstGeom prst="rect">
            <a:avLst/>
          </a:prstGeom>
          <a:solidFill>
            <a:srgbClr val="071833"/>
          </a:solidFill>
          <a:ln w="9525">
            <a:solidFill>
              <a:srgbClr val="4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276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1">
                <a:solidFill>
                  <a:srgbClr val="6FD3F5"/>
                </a:solidFill>
                <a:latin typeface="Menlo"/>
              </a:defRPr>
            </a:pPr>
            <a:r>
              <a:t>ФРОНТ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01952"/>
            <a:ext cx="3749039" cy="1463040"/>
          </a:xfrm>
          <a:prstGeom prst="rect">
            <a:avLst/>
          </a:prstGeom>
          <a:solidFill>
            <a:srgbClr val="0A2244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" y="1929384"/>
            <a:ext cx="3675887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850" b="0">
                <a:solidFill>
                  <a:srgbClr val="9BE7FF"/>
                </a:solidFill>
                <a:latin typeface="Menlo"/>
              </a:defRPr>
            </a:pPr>
            <a:r>
              <a:t>СТУДЕНТ</a:t>
            </a:r>
            <a:br/>
            <a:r>
              <a:t>[Capacitor Shell (iOS/Android)]</a:t>
            </a:r>
            <a:br/>
            <a:r>
              <a:t> → WebView: Web App</a:t>
            </a:r>
            <a:br/>
            <a:r>
              <a:t> → Giper Baza → IndexedDB</a:t>
            </a:r>
            <a:br/>
            <a:r>
              <a:t> → BLE-плагин (central)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74720"/>
            <a:ext cx="3749039" cy="1417320"/>
          </a:xfrm>
          <a:prstGeom prst="rect">
            <a:avLst/>
          </a:prstGeom>
          <a:solidFill>
            <a:srgbClr val="0A2244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" y="3502151"/>
            <a:ext cx="3675887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850" b="0">
                <a:solidFill>
                  <a:srgbClr val="FFFFFF"/>
                </a:solidFill>
                <a:latin typeface="Menlo"/>
              </a:defRPr>
            </a:pPr>
            <a:r>
              <a:t>ХАБ ПРЕПОДАВАТЕЛЯ</a:t>
            </a:r>
            <a:br/>
            <a:r>
              <a:t>[Teacher Console (веб)]</a:t>
            </a:r>
            <a:br/>
            <a:r>
              <a:t> → Hub Runtime (Node):</a:t>
            </a:r>
            <a:br/>
            <a:r>
              <a:t>    Giper Baza WitnessLand</a:t>
            </a:r>
            <a:br/>
            <a:r>
              <a:t> → Radio Bridge (ESP32 USB /</a:t>
            </a:r>
            <a:br/>
            <a:r>
              <a:t>    WinRT / плагин телефона)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17320" y="5029200"/>
            <a:ext cx="2194560" cy="502920"/>
          </a:xfrm>
          <a:prstGeom prst="rect">
            <a:avLst/>
          </a:prstGeom>
          <a:solidFill>
            <a:srgbClr val="1E6FEB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53896" y="5056632"/>
            <a:ext cx="2121408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850" b="1">
                <a:solidFill>
                  <a:srgbClr val="FFFFFF"/>
                </a:solidFill>
                <a:latin typeface="Menlo"/>
              </a:defRPr>
            </a:pPr>
            <a:r>
              <a:t>BLE GATT / Wi-Fi LAN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395728" y="4919472"/>
            <a:ext cx="109728" cy="109728"/>
          </a:xfrm>
          <a:prstGeom prst="downArrow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6235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"/>
              </a:spcAft>
              <a:defRPr sz="900" b="0">
                <a:solidFill>
                  <a:srgbClr val="8FA3BF"/>
                </a:solidFill>
                <a:latin typeface="Menlo"/>
              </a:defRPr>
            </a:pPr>
            <a:r>
              <a:t>синк при сети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60" y="1554480"/>
            <a:ext cx="3977639" cy="4572000"/>
          </a:xfrm>
          <a:prstGeom prst="rect">
            <a:avLst/>
          </a:prstGeom>
          <a:solidFill>
            <a:srgbClr val="071833"/>
          </a:solidFill>
          <a:ln w="9525">
            <a:solidFill>
              <a:srgbClr val="4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6320" y="16276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1">
                <a:solidFill>
                  <a:srgbClr val="6FD3F5"/>
                </a:solidFill>
                <a:latin typeface="Menlo"/>
              </a:defRPr>
            </a:pPr>
            <a:r>
              <a:t>БЕК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1901952"/>
            <a:ext cx="3703320" cy="457200"/>
          </a:xfrm>
          <a:prstGeom prst="rect">
            <a:avLst/>
          </a:prstGeom>
          <a:solidFill>
            <a:srgbClr val="1E6FEB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82896" y="1929384"/>
            <a:ext cx="36301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850" b="1">
                <a:solidFill>
                  <a:srgbClr val="FFFFFF"/>
                </a:solidFill>
                <a:latin typeface="Menlo"/>
              </a:defRPr>
            </a:pPr>
            <a:r>
              <a:t>ПЛАТФОРМА:  Giper Baza Node + Yard (Face/Diff/Pack)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6629400" y="2395728"/>
            <a:ext cx="109728" cy="109728"/>
          </a:xfrm>
          <a:prstGeom prst="downArrow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846320" y="2560320"/>
            <a:ext cx="3703320" cy="1234440"/>
          </a:xfrm>
          <a:prstGeom prst="rect">
            <a:avLst/>
          </a:prstGeom>
          <a:solidFill>
            <a:srgbClr val="0A2244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82896" y="2587751"/>
            <a:ext cx="3630168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850" b="0">
                <a:solidFill>
                  <a:srgbClr val="9BE7FF"/>
                </a:solidFill>
                <a:latin typeface="Menlo"/>
              </a:defRPr>
            </a:pPr>
            <a:r>
              <a:t>СЕРВИСЫ:</a:t>
            </a:r>
            <a:br/>
            <a:r>
              <a:t>Ingress Validator (карантин, подписи)</a:t>
            </a:r>
            <a:br/>
            <a:r>
              <a:t>Verifier Core (политика → Decision)</a:t>
            </a:r>
            <a:br/>
            <a:r>
              <a:t>Identity Service (SSO → Credentials)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6629400" y="3831336"/>
            <a:ext cx="109728" cy="109728"/>
          </a:xfrm>
          <a:prstGeom prst="downArrow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846320" y="3995928"/>
            <a:ext cx="3703320" cy="777240"/>
          </a:xfrm>
          <a:prstGeom prst="rect">
            <a:avLst/>
          </a:prstGeom>
          <a:solidFill>
            <a:srgbClr val="0A2244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82896" y="4023360"/>
            <a:ext cx="363016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850" b="0">
                <a:solidFill>
                  <a:srgbClr val="FFFFFF"/>
                </a:solidFill>
                <a:latin typeface="Menlo"/>
              </a:defRPr>
            </a:pPr>
            <a:r>
              <a:t>ХРАНЕНИЕ:</a:t>
            </a:r>
            <a:br/>
            <a:r>
              <a:t>PostgreSQL (raw facts, проекции, jobs)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6629400" y="4809744"/>
            <a:ext cx="109728" cy="109728"/>
          </a:xfrm>
          <a:prstGeom prst="downArrow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846320" y="4974336"/>
            <a:ext cx="3703320" cy="457200"/>
          </a:xfrm>
          <a:prstGeom prst="rect">
            <a:avLst/>
          </a:prstGeom>
          <a:solidFill>
            <a:srgbClr val="071833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82896" y="5001768"/>
            <a:ext cx="36301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850" b="0">
                <a:solidFill>
                  <a:srgbClr val="8FA3BF"/>
                </a:solidFill>
                <a:latin typeface="Menlo"/>
              </a:defRPr>
            </a:pPr>
            <a:r>
              <a:t>Modeus Adapter (экспорт посещаемости)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217920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8FA3BF"/>
                </a:solidFill>
                <a:latin typeface="Menlo"/>
              </a:defRPr>
            </a:pPr>
            <a:r>
              <a:t>Онбординг: Identity Service → студент и хаб (SSO). Деградация: Baza недоступна → PostgreSQL online-only на тех же конвертах.</a:t>
            </a:r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8FB544A8-13CF-98FD-A687-2E8851DF9D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29" t="6638" r="9308" b="6818"/>
          <a:stretch>
            <a:fillRect/>
          </a:stretch>
        </p:blipFill>
        <p:spPr>
          <a:xfrm>
            <a:off x="8356762" y="73296"/>
            <a:ext cx="729049" cy="83519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9900"/>
            <a:ext cx="9144000" cy="38100"/>
          </a:xfrm>
          <a:prstGeom prst="rect">
            <a:avLst/>
          </a:prstGeom>
          <a:solidFill>
            <a:srgbClr val="1E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1">
                <a:solidFill>
                  <a:srgbClr val="4D9BFF"/>
                </a:solidFill>
                <a:latin typeface="Menlo"/>
              </a:defRPr>
            </a:pPr>
            <a:r>
              <a:t>БЕЗОПАСНОСТЬ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600" b="1">
                <a:solidFill>
                  <a:srgbClr val="FFFFFF"/>
                </a:solidFill>
                <a:latin typeface="Menlo"/>
              </a:defRPr>
            </a:pPr>
            <a:r>
              <a:t>ЧТО BLE-WITNESS РЕШАЕТ — И ЧТО НЕТ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9BE7FF"/>
                </a:solidFill>
                <a:latin typeface="Menlo"/>
              </a:defRPr>
            </a:pPr>
            <a:r>
              <a:t>Честная граница: радио убирает удалённое и временное читерство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8046720" cy="19050"/>
          </a:xfrm>
          <a:prstGeom prst="rect">
            <a:avLst/>
          </a:prstGeom>
          <a:solidFill>
            <a:srgbClr val="4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8046720" cy="658368"/>
          </a:xfrm>
          <a:prstGeom prst="rect">
            <a:avLst/>
          </a:prstGeom>
          <a:solidFill>
            <a:srgbClr val="071833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65506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1">
                <a:solidFill>
                  <a:srgbClr val="FFFFFF"/>
                </a:solidFill>
                <a:latin typeface="Menlo"/>
              </a:defRPr>
            </a:pPr>
            <a:r>
              <a:t>Перевод часов / запись в прошлое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655064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1">
                <a:solidFill>
                  <a:srgbClr val="53E0A0"/>
                </a:solidFill>
                <a:latin typeface="Menlo"/>
              </a:defRPr>
            </a:pPr>
            <a:r>
              <a:t>РЕШЕНО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655064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50" b="0">
                <a:solidFill>
                  <a:srgbClr val="9BE7FF"/>
                </a:solidFill>
                <a:latin typeface="Menlo"/>
              </a:defRPr>
            </a:pPr>
            <a:r>
              <a:t>окно якоря + Receipt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50008"/>
            <a:ext cx="8046720" cy="658368"/>
          </a:xfrm>
          <a:prstGeom prst="rect">
            <a:avLst/>
          </a:prstGeom>
          <a:solidFill>
            <a:srgbClr val="071833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40487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1">
                <a:solidFill>
                  <a:srgbClr val="FFFFFF"/>
                </a:solidFill>
                <a:latin typeface="Menlo"/>
              </a:defRPr>
            </a:pPr>
            <a:r>
              <a:t>Отметка из дома без сообщников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404872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1">
                <a:solidFill>
                  <a:srgbClr val="53E0A0"/>
                </a:solidFill>
                <a:latin typeface="Menlo"/>
              </a:defRPr>
            </a:pPr>
            <a:r>
              <a:t>РЕШЕНО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40487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50" b="0">
                <a:solidFill>
                  <a:srgbClr val="9BE7FF"/>
                </a:solidFill>
                <a:latin typeface="Menlo"/>
              </a:defRPr>
            </a:pPr>
            <a:r>
              <a:t>нет радио-контакта — нет Receipt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099815"/>
            <a:ext cx="8046720" cy="658368"/>
          </a:xfrm>
          <a:prstGeom prst="rect">
            <a:avLst/>
          </a:prstGeom>
          <a:solidFill>
            <a:srgbClr val="071833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15467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1">
                <a:solidFill>
                  <a:srgbClr val="FFFFFF"/>
                </a:solidFill>
                <a:latin typeface="Menlo"/>
              </a:defRPr>
            </a:pPr>
            <a:r>
              <a:t>Replay якоря / дубль отметки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154679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1">
                <a:solidFill>
                  <a:srgbClr val="53E0A0"/>
                </a:solidFill>
                <a:latin typeface="Menlo"/>
              </a:defRPr>
            </a:pPr>
            <a:r>
              <a:t>РЕШЕНО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15467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50" b="0">
                <a:solidFill>
                  <a:srgbClr val="9BE7FF"/>
                </a:solidFill>
                <a:latin typeface="Menlo"/>
              </a:defRPr>
            </a:pPr>
            <a:r>
              <a:t>nonce эпохи + уникальность mark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849624"/>
            <a:ext cx="8046720" cy="658368"/>
          </a:xfrm>
          <a:prstGeom prst="rect">
            <a:avLst/>
          </a:prstGeom>
          <a:solidFill>
            <a:srgbClr val="071833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3904487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1">
                <a:solidFill>
                  <a:srgbClr val="FFFFFF"/>
                </a:solidFill>
                <a:latin typeface="Menlo"/>
              </a:defRPr>
            </a:pPr>
            <a:r>
              <a:t>Поддельный хаб / Sybil-студент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904487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1">
                <a:solidFill>
                  <a:srgbClr val="53E0A0"/>
                </a:solidFill>
                <a:latin typeface="Menlo"/>
              </a:defRPr>
            </a:pPr>
            <a:r>
              <a:t>РЕШЕНО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904487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50" b="0">
                <a:solidFill>
                  <a:srgbClr val="9BE7FF"/>
                </a:solidFill>
                <a:latin typeface="Menlo"/>
              </a:defRPr>
            </a:pPr>
            <a:r>
              <a:t>цепочка доверия SSO + креденшелы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599432"/>
            <a:ext cx="8046720" cy="658368"/>
          </a:xfrm>
          <a:prstGeom prst="rect">
            <a:avLst/>
          </a:prstGeom>
          <a:solidFill>
            <a:srgbClr val="071833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654296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1">
                <a:solidFill>
                  <a:srgbClr val="FFFFFF"/>
                </a:solidFill>
                <a:latin typeface="Menlo"/>
              </a:defRPr>
            </a:pPr>
            <a:r>
              <a:t>Друг принёс телефон студента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654296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1">
                <a:solidFill>
                  <a:srgbClr val="FF6B81"/>
                </a:solidFill>
                <a:latin typeface="Menlo"/>
              </a:defRPr>
            </a:pPr>
            <a:r>
              <a:t>НЕТ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4654296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50" b="0">
                <a:solidFill>
                  <a:srgbClr val="9BE7FF"/>
                </a:solidFill>
                <a:latin typeface="Menlo"/>
              </a:defRPr>
            </a:pPr>
            <a:r>
              <a:t>уровень бумажной ведомости; визуальные проверки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349240"/>
            <a:ext cx="8046720" cy="658368"/>
          </a:xfrm>
          <a:prstGeom prst="rect">
            <a:avLst/>
          </a:prstGeom>
          <a:solidFill>
            <a:srgbClr val="071833"/>
          </a:solidFill>
          <a:ln w="9525">
            <a:solidFill>
              <a:srgbClr val="1E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540410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1">
                <a:solidFill>
                  <a:srgbClr val="FFFFFF"/>
                </a:solidFill>
                <a:latin typeface="Menlo"/>
              </a:defRPr>
            </a:pPr>
            <a:r>
              <a:t>Relay-туннель (радио-эстафета)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5404104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1">
                <a:solidFill>
                  <a:srgbClr val="FF6B81"/>
                </a:solidFill>
                <a:latin typeface="Menlo"/>
              </a:defRPr>
            </a:pPr>
            <a:r>
              <a:t>НЕТ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5404104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50" b="0">
                <a:solidFill>
                  <a:srgbClr val="9BE7FF"/>
                </a:solidFill>
                <a:latin typeface="Menlo"/>
              </a:defRPr>
            </a:pPr>
            <a:r>
              <a:t>ответ: Channel Sounding (BT 6.0) / UWB — фактор будущего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144768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1">
                <a:solidFill>
                  <a:srgbClr val="6FD3F5"/>
                </a:solidFill>
                <a:latin typeface="Menlo"/>
              </a:defRPr>
            </a:pPr>
            <a:r>
              <a:t>Подпись доказывает авторство, а не близость — поэтому mesh на пути отметки запрещён.</a:t>
            </a:r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CAEEF000-27F1-811C-5B90-7F561DC914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29" t="6638" r="9308" b="6818"/>
          <a:stretch>
            <a:fillRect/>
          </a:stretch>
        </p:blipFill>
        <p:spPr>
          <a:xfrm>
            <a:off x="8356762" y="73296"/>
            <a:ext cx="729049" cy="8351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2875</Words>
  <Application>Microsoft Macintosh PowerPoint</Application>
  <PresentationFormat>Экран (4:3)</PresentationFormat>
  <Paragraphs>328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3" baseType="lpstr">
      <vt:lpstr>Arial</vt:lpstr>
      <vt:lpstr>Calibri</vt:lpstr>
      <vt:lpstr>Menlo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Mary</cp:lastModifiedBy>
  <cp:revision>29</cp:revision>
  <dcterms:created xsi:type="dcterms:W3CDTF">2013-01-27T09:14:16Z</dcterms:created>
  <dcterms:modified xsi:type="dcterms:W3CDTF">2026-08-20T04:55:54Z</dcterms:modified>
  <cp:category/>
</cp:coreProperties>
</file>